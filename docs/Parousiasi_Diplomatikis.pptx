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Περίπου 1 λεπτό.</a:t>
            </a:r>
          </a:p>
          <a:p>
            <a:r>
              <a:t>ℹ Όλα τα στοιχεία του εξωφύλλου εμφανίζονται αυτόματα, το ένα μετά το άλλο. Περίμενε να ολοκληρωθούν (περίπου 2 δευτερόλεπτα) και μετά ξεκίνα να μιλάς.</a:t>
            </a:r>
          </a:p>
          <a:p/>
          <a:p>
            <a:r>
              <a:t>ΤΙ ΛΕΩ</a:t>
            </a:r>
          </a:p>
          <a:p>
            <a:r>
              <a:t>«Καλησπέρα σας. Κύριε Μοσχίδη, αξιότιμα μέλη της επιτροπής, ονομάζομαι Θεοδόσιος Γαληρόπουλος και θα σας παρουσιάσω τη διπλωματική μου εργασία με τίτλο "Agentic AI για αυτοματοποιημένη διαχείριση ποιότητας δεδομένων σε περιβάλλοντα μεγάλων δεδομένων FinTech".</a:t>
            </a:r>
          </a:p>
          <a:p/>
          <a:p>
            <a:r>
              <a:t>Με μία πρόταση, η εργασία ρωτά το εξής: μπορεί ένα σύστημα τεχνητής νοημοσύνης, που βασίζεται σε γλωσσικό μοντέλο και παίρνει αποφάσεις σε επαναλαμβανόμενους κύκλους, να αναλάβει μόνο του την προεπεξεργασία των δεδομένων σε ένα σύστημα ανίχνευσης απάτης; Και αν μπορεί, κάνει καλύτερη δουλειά από ένα κλασικό, προκαθορισμένο pipeline;</a:t>
            </a:r>
          </a:p>
          <a:p/>
          <a:p>
            <a:r>
              <a:t>Θα ξεκινήσω με το πρόβλημα και τα ερευνητικά ερωτήματα, θα περάσω στα δεδομένα και στη μεθοδολογία, θα δείξω τα αποτελέσματα και θα κλείσω με τα συμπεράσματα και τους περιορισμούς.»</a:t>
            </a:r>
          </a:p>
          <a:p/>
          <a:p>
            <a:r>
              <a:t>ΣΥΜΒΟΥΛΕΣ</a:t>
            </a:r>
          </a:p>
          <a:p>
            <a:r>
              <a:t>• Κοίτα την επιτροπή, όχι την οθόνη. Οι σημειώσεις είναι βοήθημα, όχι κείμενο για ανάγνωση.</a:t>
            </a:r>
          </a:p>
          <a:p>
            <a:r>
              <a:t>• Μίλα αργά στην αρχή. Οι πρώτες 30 στιγμές καθορίζουν την εντύπωση.</a:t>
            </a:r>
          </a:p>
          <a:p>
            <a:r>
              <a:t>• Η βασική «ιστορία» της παρουσίασης: έφτιαξα έναν ασφαλή Agent, τον σύγκρινα δίκαια με ένα κλασικό pipeline, δεν βρήκα προβλεπτική βελτίωση και εξηγώ ακριβώς γιατί. Ένα τίμιο και καλά εξηγημένο αρνητικό αποτέλεσμα είναι επιστημονικά πολύτιμο. Αυτό να περάσει ως μήνυμα.</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Περίπου 1,5 λεπτό.  Κλικ σε αυτή τη διαφάνεια: 3.</a:t>
            </a:r>
          </a:p>
          <a:p/>
          <a:p>
            <a:r>
              <a:t>[ΚΛΙΚ 1] → εμφανίζεται η στήλη «Πρόβλημα»</a:t>
            </a:r>
          </a:p>
          <a:p>
            <a:r>
              <a:t>«Στον χώρο του FinTech οι ψηφιακές πληρωμές γίνονται σε τεράστιο όγκο και η απάτη πρέπει να εντοπίζεται γρήγορα. Το πρώτο πρόβλημα είναι η ανισορροπία των κλάσεων. Στα δεδομένα που χρησιμοποίησα μόλις το 0,129% των συναλλαγών είναι απάτη. Αυτό σημαίνει ότι ένα "χαζό" μοντέλο που λέει πάντα "νόμιμη συναλλαγή" θα είχε accuracy 99,87%, χωρίς να εντοπίζει καμία απάτη. Γι' αυτό η accuracy είναι παραπλανητική εδώ.</a:t>
            </a:r>
          </a:p>
          <a:p/>
          <a:p>
            <a:r>
              <a:t>Το δεύτερο πρόβλημα είναι η ποιότητα των δεδομένων. Ελλιπείς τιμές, λάθη ή διπλότυπα περνάνε κατευθείαν στο μοντέλο. Ισχύει το γνωστό "garbage in, garbage out".</a:t>
            </a:r>
          </a:p>
          <a:p/>
          <a:p>
            <a:r>
              <a:t>Το τρίτο είναι ότι τα pipelines προεπεξεργασίας τα γράφει συνήθως ένας data scientist μία φορά. Αν αλλάξουν τα δεδομένα, κάποιος πρέπει να τα ξαναγράψει με το χέρι. Το AutoML (Feurer et al., 2015) βοηθά, αλλά ψάχνει μέσα σε έναν προκαθορισμένο χώρο επιλογών και δεν αιτιολογεί τις επιλογές του.»</a:t>
            </a:r>
          </a:p>
          <a:p/>
          <a:p>
            <a:r>
              <a:t>[ΚΛΙΚ 2] → εμφανίζεται η στήλη «Σκοπός»</a:t>
            </a:r>
          </a:p>
          <a:p>
            <a:r>
              <a:t>«Ο σκοπός της εργασίας ήταν να σχεδιάσω, να υλοποιήσω και να αξιολογήσω έναν Agent που κάνει αυτή τη δουλειά. Agentic AI σημαίνει ένα σύστημα που δεν απαντά απλώς μία φορά, αλλά δουλεύει σε κύκλους: παρατηρεί την κατάσταση, αποφασίζει, ενεργεί και ελέγχει το αποτέλεσμα. Είναι η λογική του ReAct (Yao et al., 2023). Κατά τους Sapkota et al. (2026), τα Agentic συστήματα έχουν ανάλυση εργασίας, μνήμη και μεγαλύτερη αυτονομία.</a:t>
            </a:r>
          </a:p>
          <a:p/>
          <a:p>
            <a:r>
              <a:t>Τον Agent τον υλοποίησα με το LangGraph, μια βιβλιοθήκη που περιγράφει τον Agent ως γράφο από βήματα με κοινή κατάσταση (state). Σημαντικό: ο Agent δεν αντικαθιστά τα μοντέλα ταξινόμησης. Δουλεύει πριν από αυτά, ως επίπεδο που αποφασίζει πώς θα προετοιμαστούν τα δεδομένα. Και η αξιολόγηση δεν έγινε μόνο σε έναν άξονα, αλλά σε τρεις: ποιότητα, απόδοση, κόστος.»</a:t>
            </a:r>
          </a:p>
          <a:p/>
          <a:p>
            <a:r>
              <a:t>[ΚΛΙΚ 3] → εμφανίζεται το πλαίσιο με το ερώτημα</a:t>
            </a:r>
          </a:p>
          <a:p>
            <a:r>
              <a:t>«Άρα το κεντρικό ερώτημα είναι αυτό που βλέπετε: μπορεί ένας Agent να αποφασίζει μόνος του, και αξίζει;»</a:t>
            </a:r>
          </a:p>
          <a:p/>
          <a:p>
            <a:r>
              <a:t>ΑΝ ΡΩΤΗΣΟΥΝ</a:t>
            </a:r>
          </a:p>
          <a:p>
            <a:r>
              <a:t>• «Ποια η διαφορά από το AutoML;» → Το AutoML βελτιστοποιεί έναν σταθερό χώρο επιλογών με αναζήτηση. Ο Agent λαμβάνει μια περιγραφή της κατάστασης των δεδομένων και feedback από τους προηγούμενους γύρους, προτείνει δομημένο plan και αφήνει πλήρη καταγραφή (audit trail) του γιατί πήρε κάθε απόφαση.</a:t>
            </a:r>
          </a:p>
          <a:p>
            <a:r>
              <a:t>• «AI Agent ή Agentic AI;» → Κατά τους Sapkota et al. (2026), ένας AI agent εκτελεί μια συγκεκριμένη εργασία. Ένα Agentic σύστημα διατηρεί κατάσταση, σχεδιάζει σε πολλά βήματα και αναθεωρεί τις αποφάσεις του. Ο δικός μου Agent κρατά state και αναθεωρεί, άρα ανήκει στη δεύτερη κατηγορία.</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Περίπου 1,5 λεπτό.  Κλικ: 3.</a:t>
            </a:r>
          </a:p>
          <a:p/>
          <a:p>
            <a:r>
              <a:t>[ΚΛΙΚ 1] → ΕΕ1</a:t>
            </a:r>
          </a:p>
          <a:p>
            <a:r>
              <a:t>«Το πρώτο ερευνητικό ερώτημα αφορά την προβλεπτική απόδοση: όταν τα ίδια μοντέλα εκπαιδεύονται σε δεδομένα που προετοίμασε ο Agent, αποδίδουν καλύτερα από ό,τι με ένα συμβατικό pipeline;</a:t>
            </a:r>
          </a:p>
          <a:p/>
          <a:p>
            <a:r>
              <a:t>Το διατύπωσα ως στατιστική υπόθεση. Η μηδενική υπόθεση H₀ λέει ότι δεν υπάρχει διαφορά. Η εναλλακτική H₁ λέει ότι ο Agent δίνει θετική μέση διαφορά στην PR-AUC, που είναι η κύρια μετρική μου.</a:t>
            </a:r>
          </a:p>
          <a:p/>
          <a:p>
            <a:r>
              <a:t>Δεν αρκέστηκα στο p-value. Κοίταξα και το μέγεθος της διαφοράς, τη σταθερότητά της στα folds και την απόδοση σε ανεξάρτητο test set. Ένα μικρό p-value με αμελητέα διαφορά δεν έχει πρακτική αξία για μια τράπεζα.»</a:t>
            </a:r>
          </a:p>
          <a:p/>
          <a:p>
            <a:r>
              <a:t>ΕΞΗΓΗΣΗ: ΤΙ ΕΙΝΑΙ Η PR-AUC (αν χρειαστεί να το πεις απλά)</a:t>
            </a:r>
          </a:p>
          <a:p>
            <a:r>
              <a:t>Precision = από όσες συναλλαγές το μοντέλο χαρακτήρισε απάτη, πόσες ήταν πράγματι απάτη. Recall = από όλες τις απάτες, πόσες εντόπισε. Η καμπύλη Precision-Recall δείχνει αυτό το δίλημμα για όλα τα πιθανά κατώφλια, και η PR-AUC είναι το εμβαδόν κάτω από αυτήν. Όσο πιο κοντά στο 1, τόσο καλύτερα. Ένα τυχαίο μοντέλο παίρνει PR-AUC περίπου ίση με το ποσοστό των θετικών, άρα εδώ πολύ χαμηλή.</a:t>
            </a:r>
          </a:p>
          <a:p/>
          <a:p>
            <a:r>
              <a:t>[ΚΛΙΚ 2] → ΕΕ2</a:t>
            </a:r>
          </a:p>
          <a:p>
            <a:r>
              <a:t>«Το δεύτερο ερώτημα είναι πρακτικό: ο Agent έχει κόστος. Τρέχει ξανά και ξανά την αξιολόγηση, καλεί ένα γλωσσικό μοντέλο και χρησιμοποιεί περισσότερη μνήμη. Μέτρησα χρόνο εκτέλεσης, μνήμη, κλήσεις και tokens του LLM και αριθμό επαναλήψεων. Εδώ δεν έθεσα συγκεκριμένη υπόθεση. Εξετάζω αν το όφελος δικαιολογεί το κόστος.»</a:t>
            </a:r>
          </a:p>
          <a:p/>
          <a:p>
            <a:r>
              <a:t>[ΚΛΙΚ 3] → σημείωση κάτω</a:t>
            </a:r>
          </a:p>
          <a:p>
            <a:r>
              <a:t>«Από την αρχή όρισα ότι, αν δεν βρω βελτίωση, αυτό είναι εξίσου σημαντικό αποτέλεσμα. Δεν έστησα το πείραμα για να "βγει" ο Agent νικητής.»</a:t>
            </a:r>
          </a:p>
          <a:p/>
          <a:p>
            <a:r>
              <a:t>ΑΝ ΡΩΤΗΣΟΥΝ</a:t>
            </a:r>
          </a:p>
          <a:p>
            <a:r>
              <a:t>• «Γιατί PR-AUC και όχι ROC-AUC;» → Οι Saito &amp; Rehmsmeier (2015) δείχνουν ότι σε πολύ ανισόρροπα δεδομένα η ROC-AUC φαίνεται υψηλή λόγω των πολλών αληθώς αρνητικών, ενώ η PR-AUC εστιάζει στη θετική κλάση, δηλαδή στην απάτη, που είναι αυτό που μας ενδιαφέρει. Υπολόγισα και ROC-AUC, Recall, Precision, F1, Specificity και Balanced Accuracy ως συμπληρωματικές.</a:t>
            </a:r>
          </a:p>
          <a:p>
            <a:r>
              <a:t>• «Γιατί μονόπλευρη H₁;» → Γιατί το ερώτημα είναι αν ο Agent βελτιώνει. Στην πράξη, με μηδενικές διαφορές, το αποτέλεσμα δεν θα άλλαζε με κανένα τεστ.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Περίπου 2 λεπτά.  Κλικ: 5 (1 για τις κάρτες, 1 για κάθε κουκκίδα).</a:t>
            </a:r>
          </a:p>
          <a:p/>
          <a:p>
            <a:r>
              <a:t>[ΚΛΙΚ 1] → οι τέσσερις κάρτες εμφανίζονται η μία μετά την άλλη</a:t>
            </a:r>
          </a:p>
          <a:p>
            <a:r>
              <a:t>«Χρησιμοποίησα το PaySim (Lopez-Rojas et al., 2016), ένα συνθετικό dataset που παράγεται από προσομοιωτή συναλλαγών κινητής τηλεφωνίας (mobile money). Έχει 6,36 εκατομμύρια συναλλαγές, από τις οποίες μόνο 8.213 είναι απάτη, δηλαδή 0,129%. Καλύπτει 744 ωριαία βήματα, δηλαδή 30 ημέρες.</a:t>
            </a:r>
          </a:p>
          <a:p/>
          <a:p>
            <a:r>
              <a:t>Για τη σύγκριση χρησιμοποίησα ένα δείγμα 72.149 εγγραφών. Περιέχει όλες τις 6.559 απάτες του training set και 65.590 νόμιμες, δηλαδή αναλογία περίπου 1 προς 10. Το δείγμα χρειάστηκε για υπολογιστικούς λόγους: κάθε plan του Agent αξιολογείται σε 25 folds με 3 μοντέλα, και αυτό σε 6 εκατομμύρια γραμμές θα ήταν πολύ ακριβό.</a:t>
            </a:r>
          </a:p>
          <a:p/>
          <a:p>
            <a:r>
              <a:t>Τέλος, για να έχει ο Agent κάτι συγκεκριμένο να διορθώσει, δημιούργησα ένα ελεγχόμενο πρόβλημα: αφαίρεσα τυχαία το 5% των τιμών της μεταβλητής type, δηλαδή του τύπου συναλλαγής.»</a:t>
            </a:r>
          </a:p>
          <a:p/>
          <a:p>
            <a:r>
              <a:t>[ΚΛΙΚ 2] → χρονολογικός διαχωρισμός</a:t>
            </a:r>
          </a:p>
          <a:p>
            <a:r>
              <a:t>«Ο διαχωρισμός σε training και test έγινε χρονολογικά με βάση το step, όχι τυχαία. Έτσι μοιάζει με την πραγματικότητα: εκπαιδεύεις στο παρελθόν και προβλέπεις το μέλλον. Ένας τυχαίος διαχωρισμός θα έδινε στο μοντέλο πληροφορία από το "μέλλον". Το ποσοστό δεν είναι ακριβώς 80/20 σε γραμμές, γιατί κάθε ώρα έχει διαφορετικό αριθμό συναλλαγών.»</a:t>
            </a:r>
          </a:p>
          <a:p/>
          <a:p>
            <a:r>
              <a:t>[ΚΛΙΚ 3] → χαρακτηριστικά</a:t>
            </a:r>
          </a:p>
          <a:p>
            <a:r>
              <a:t>«Κράτησα τα step, type και amount και δημιούργησα νέα χαρακτηριστικά: την ώρα και την ημέρα από το step, τον λογάριθμο του ποσού, επειδή το amount έχει πολύ έντονη δεξιά ασυμμετρία (skewness 31,24), και το αν ο παραλήπτης είναι έμπορος.»</a:t>
            </a:r>
          </a:p>
          <a:p/>
          <a:p>
            <a:r>
              <a:t>[ΚΛΙΚ 4] → τι αφαιρέθηκε</a:t>
            </a:r>
          </a:p>
          <a:p>
            <a:r>
              <a:t>«Αφαίρεσα τα nameOrig και nameDest, γιατί είναι αναγνωριστικά λογαριασμών με τεράστιο πλήθος τιμών, και το μοντέλο θα απομνημόνευε λογαριασμούς αντί για μοτίβα. Αφαίρεσα το isFlaggedFraud, γιατί είναι η έξοδος ενός ήδη υπάρχοντος κανόνα. Αφαίρεσα επίσης τα υπόλοιπα λογαριασμών (balances), συντηρητικά, για να μειώσω τον κίνδυνο διαρροής πληροφορίας (data leakage, Kaufman et al., 2012).»</a:t>
            </a:r>
          </a:p>
          <a:p/>
          <a:p>
            <a:r>
              <a:t>[ΚΛΙΚ 5] → η αλλοίωση</a:t>
            </a:r>
          </a:p>
          <a:p>
            <a:r>
              <a:t>«Η αλλοίωση είναι MCAR, Missing Completely At Random: η πιθανότητα να λείπει μια τιμή δεν εξαρτάται από τίποτα. Επηρεάστηκαν 3.607 εγγραφές, με seed 42 για αναπαραγωγιμότητα. Έγινε μόνο σε αντίγραφο του training sample. Το αρχικό dataset και το test set έμειναν ανέγγιχτα.»</a:t>
            </a:r>
          </a:p>
          <a:p/>
          <a:p>
            <a:r>
              <a:t>ΑΝ ΡΩΤΗΣΟΥΝ</a:t>
            </a:r>
          </a:p>
          <a:p>
            <a:r>
              <a:t>• «Γιατί συνθετικά δεδομένα;» → Τα πραγματικά δεδομένα απάτης είναι εμπιστευτικά. Το PaySim χρησιμοποιείται ευρέως στη βιβλιογραφία. Το αναγνωρίζω ως περιορισμό.</a:t>
            </a:r>
          </a:p>
          <a:p>
            <a:r>
              <a:t>• «Γιατί αλλοίωση στη type;» → Είναι η βασική κατηγορική μεταβλητή. Στο PaySim η απάτη εμφανίζεται μόνο σε συναλλαγές TRANSFER και CASH_OUT, άρα η type είναι πολύ πληροφοριακή. Ήθελα ένα απλό, ελεγχόμενο σενάριο για να φαίνεται καθαρά αν η ενέργεια του Agent διορθώνει το πρόβλημα.</a:t>
            </a:r>
          </a:p>
          <a:p>
            <a:r>
              <a:t>• «Δεν χρησιμοποιήσατε is_transfer / is_cash_out;» → Υπολογίζονται, αλλά δεν μπαίνουν στο μοντέλο. Σε καθαρά δεδομένα είναι ίδιες με τις στήλες one-hot της type. Στο σενάριο αλλοίωσης θα «πρόδιδαν» στο μοντέλο την τιμή που αφαίρεσα.</a:t>
            </a:r>
          </a:p>
          <a:p>
            <a:r>
              <a:t>• «Το δείγμα με όλες τις απάτες δεν αλλοιώνει την κατανομή;» → Ναι, στο δείγμα η απάτη είναι 9,09%. Γι' αυτό το test set κρατά τη φυσική κατανομή (1,34%). Αυτό εξηγεί και τη χαμηλή Precision στο test, που θα δούμε στη διαφάνεια 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Περίπου 2 λεπτά.  Κλικ: 3.</a:t>
            </a:r>
          </a:p>
          <a:p/>
          <a:p>
            <a:r>
              <a:t>[ΚΛΙΚ 1] → συμβατικό pipeline</a:t>
            </a:r>
          </a:p>
          <a:p>
            <a:r>
              <a:t>«Το συμβατικό pipeline είναι αυτό που θα έφτιαχνε ένας data scientist με το χέρι, και είναι το σημείο αναφοράς (baseline). Τα βήματα είναι ίδια σε κάθε fold. Η type γίνεται one-hot encoding, δηλαδή κάθε τύπος συναλλαγής γίνεται ξεχωριστή στήλη 0/1. Για τη Logistic Regression εφαρμόζεται standard scaling, γιατί είναι ευαίσθητη στην κλίμακα των μεταβλητών. Τα δέντρα δεν το χρειάζονται, γιατί χωρίζουν με κατώφλια και δεν επηρεάζονται από την κλίμακα. Και στα τρία μοντέλα χρησιμοποιείται class weighting, ώστε ένα λάθος σε απάτη να "κοστίζει" περισσότερο από ένα λάθος σε νόμιμη συναλλαγή.»</a:t>
            </a:r>
          </a:p>
          <a:p/>
          <a:p>
            <a:r>
              <a:t>[ΚΛΙΚ 2] → εμφανίζεται το «vs» και μετά η στήλη Agentic</a:t>
            </a:r>
          </a:p>
          <a:p>
            <a:r>
              <a:t>«Το Agentic pipeline ξεκινά από το ίδιο baseline. Ο Agent διαβάζει μια αναφορά ποιότητας των δεδομένων, προτείνει ένα transformation plan, το αξιολογεί και αποφασίζει αν θα το κρατήσει ή θα δοκιμάσει κάτι άλλο, έως τρεις φορές. Σημαντική σχεδιαστική επιλογή: το plan τροποποιεί το baseline, δεν το αντικαθιστά. Ό,τι δεν αλλάζει ρητά ο Agent μένει ίδιο. Έτσι, κάθε διαφορά στα αποτελέσματα οφείλεται μόνο στις ενέργειες του Agent.»</a:t>
            </a:r>
          </a:p>
          <a:p/>
          <a:p>
            <a:r>
              <a:t>[ΚΛΙΚ 3] → κοινές συνθήκες</a:t>
            </a:r>
          </a:p>
          <a:p>
            <a:r>
              <a:t>«Για να είναι η σύγκριση δίκαιη, όλα τα υπόλοιπα είναι κοινά: δεδομένα, seed, μοντέλα, παράμετροι και threshold 0,50. Χρησιμοποίησα repeated stratified cross-validation 5×5: χωρίζω τα δεδομένα σε 5 μέρη, εκπαιδεύω στα 4 και αξιολογώ στο 5ο, και το επαναλαμβάνω 5 φορές με διαφορετική ανακατανομή. Προκύπτουν 25 ζεύγη αποτελεσμάτων, ίδια για τις δύο προσεγγίσεις, ώστε να συγκρίνονται ανά ζεύγος. "Stratified" σημαίνει ότι κάθε fold έχει το ίδιο ποσοστό απάτης.</a:t>
            </a:r>
          </a:p>
          <a:p/>
          <a:p>
            <a:r>
              <a:t>Κάθε imputer, encoder ή scaler εκπαιδεύεται μόνο στο training μέρος κάθε fold, για να μη διαρρεύσει πληροφορία από τα validation δεδομένα. Το test set έμεινε κλειδωμένο. Ο Agent δεν το είδε ποτέ, και το χρησιμοποίησα μόνο στο τέλος.»</a:t>
            </a:r>
          </a:p>
          <a:p/>
          <a:p>
            <a:r>
              <a:t>ΑΝ ΡΩΤΗΣΟΥΝ</a:t>
            </a:r>
          </a:p>
          <a:p>
            <a:r>
              <a:t>• «Γιατί threshold 0,50 και όχι βελτιστοποιημένο;» → Για να μην εισαχθεί άλλη πηγή διαφοράς ανάμεσα στις δύο προσεγγίσεις. Η PR-AUC δεν εξαρτάται από το threshold, άρα η κύρια σύγκριση δεν επηρεάζεται. Η δυναμική βελτιστοποίηση threshold είναι στις προτάσεις για μελλοντική έρευνα.</a:t>
            </a:r>
          </a:p>
          <a:p>
            <a:r>
              <a:t>• «Γιατί αυτά τα τρία μοντέλα;» → Καλύπτουν ένα γραμμικό μοντέλο, ένα απλό δέντρο και ένα ensemble, με διαφορετική ευαισθησία στην προεπεξεργασία. Ο στόχος ήταν να μελετηθεί η προεπεξεργασία, όχι να βρεθεί το καλύτερο μοντέλο.</a:t>
            </a:r>
          </a:p>
          <a:p>
            <a:r>
              <a:t>• «Γιατί class weighting και όχι SMOTE;» → Για απλότητα και σταθερότητα στο baseline. Οι samplers του imbalanced-learn ήταν διαθέσιμοι στο πλαίσιο, μέσα σε ασφαλή pipelines.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Περίπου 2,5 λεπτά. Είναι η πιο «τεχνική» διαφάνεια, πάρε τον χρόνο σου.  Κλικ: 4.</a:t>
            </a:r>
          </a:p>
          <a:p/>
          <a:p>
            <a:r>
              <a:t>[ΚΛΙΚ 1] → τα πέντε βήματα εμφανίζονται ένα ένα με τα βέλη</a:t>
            </a:r>
          </a:p>
          <a:p>
            <a:r>
              <a:t>«Ο Agent είναι ένα StateGraph στο LangGraph. Τα πραγματικά στάδια στον κώδικα είναι Prepare Iteration, Generate Strategy, Validate Strategy, Evaluate Candidate, Assess Invalid Strategy, Decide Feedback και Record Iteration. Εδώ τα δείχνω απλοποιημένα σε πέντε βήματα:</a:t>
            </a:r>
          </a:p>
          <a:p/>
          <a:p>
            <a:r>
              <a:t>1. Ένας ντετερμινιστικός Data Quality Evaluator μετρά την ποιότητα των δεδομένων και φτιάχνει μια αναφορά.</a:t>
            </a:r>
          </a:p>
          <a:p>
            <a:r>
              <a:t>2. Το γλωσσικό μοντέλο, το open-weight gpt-oss-20b μέσω του Groq Free Tier με temperature 0, διαβάζει μόνο μια σύνοψη: το schema, τις ελλιπείς τιμές ανά στήλη, τις μετρικές ποιότητας, τις μετρικές του baseline, τη λίστα επιτρεπόμενων μετασχηματισμών και το feedback από τους προηγούμενους γύρους. Δεν βλέπει ποτέ τις 6,36 εκατομμύρια συναλλαγές. Επιστρέφει ένα Transformation Plan σε JSON.</a:t>
            </a:r>
          </a:p>
          <a:p>
            <a:r>
              <a:t>3. Το plan δεν εκτελείται απευθείας. Ελέγχεται με Pydantic models, δηλαδή αυστηρό σχήμα, και με ένα allowlisted registry: υπάρχουν οι στήλες; Είναι επιτρεπτός ο μετασχηματισμός; Μήπως χρησιμοποιεί το target;</a:t>
            </a:r>
          </a:p>
          <a:p>
            <a:r>
              <a:t>4. Αν περάσει, εφαρμόζεται και αξιολογείται: νέος δείκτης ποιότητας και τα τρία μοντέλα στα ίδια 25 folds.</a:t>
            </a:r>
          </a:p>
          <a:p>
            <a:r>
              <a:t>5. Μια ντετερμινιστική πολιτική, όχι το LLM, αποφασίζει ACCEPT, RETRY ή ασφαλή τερματισμό.»</a:t>
            </a:r>
          </a:p>
          <a:p/>
          <a:p>
            <a:r>
              <a:t>[ΚΛΙΚ 2] → το κόκκινο βέλος επιστροφής</a:t>
            </a:r>
          </a:p>
          <a:p>
            <a:r>
              <a:t>«Αν η απόφαση είναι RETRY, ο Agent ξεκινά νέο γύρο. Στο LLM δίνονται για κάθε προηγούμενο γύρο το plan, τα σφάλματα επικύρωσης, η απόφαση με τον κωδικό αιτιολόγησης και οι μεταβολές των μετρικών ανά μοντέλο. Κάθε γύρος ξεκινά από το ίδιο αρχικό αλλοιωμένο δείγμα, ώστε οι γύροι να συγκρίνονται δίκαια. Το όριο είναι τρεις γύροι.»</a:t>
            </a:r>
          </a:p>
          <a:p/>
          <a:p>
            <a:r>
              <a:t>[ΚΛΙΚ 3] → όρια ασφάλειας</a:t>
            </a:r>
          </a:p>
          <a:p>
            <a:r>
              <a:t>«Επειδή ένα LLM μπορεί να κάνει λάθη ή να "φανταστεί" πράγματα, έβαλα αυστηρά όρια: δεν εκτελεί αυθαίρετο κώδικα ή εντολές συστήματος, δεν έχει πρόσβαση στα raw δεδομένα ή στο test set, δεν μπορεί να χρησιμοποιήσει το target ως predictor, και επιλέγει μόνο από μια λίστα εγκεκριμένων μετασχηματισμών. Στο MLAgentBench (Huang et al., 2024) οι agents γράφουν ελεύθερα κώδικα. Εγώ επέλεξα σκόπιμα το αντίθετο, για ασφάλεια σε χρηματοοικονομικό περιβάλλον.»</a:t>
            </a:r>
          </a:p>
          <a:p/>
          <a:p>
            <a:r>
              <a:t>[ΚΛΙΚ 4] → δείκτης ποιότητας</a:t>
            </a:r>
          </a:p>
          <a:p>
            <a:r>
              <a:t>«Η ποιότητα μετριέται με έναν σύνθετο δείκτη, το DQS. Συνδυάζει τέσσερις διαστάσεις:</a:t>
            </a:r>
          </a:p>
          <a:p>
            <a:r>
              <a:t>– Completeness: πόσες τιμές δεν λείπουν.</a:t>
            </a:r>
          </a:p>
          <a:p>
            <a:r>
              <a:t>– Validity: πόσες τιμές είναι μέσα στο επιτρεπτό πεδίο, π.χ. γνωστός τύπος συναλλαγής ή μη αρνητικό ποσό.</a:t>
            </a:r>
          </a:p>
          <a:p>
            <a:r>
              <a:t>– Consistency: αν τα πεδία είναι λογικά συνεπή μεταξύ τους.</a:t>
            </a:r>
          </a:p>
          <a:p>
            <a:r>
              <a:t>– Uniqueness: πόσες γραμμές δεν είναι διπλότυπες.</a:t>
            </a:r>
          </a:p>
          <a:p>
            <a:r>
              <a:t>Κάθε διάσταση υπολογίζεται ως 1 μείον (αποτυχίες / ευκαιρίες ελέγχου), σύμφωνα με τους Pipino et al. (2002). Τα βάρη ορίστηκαν πριν από τα πειράματα. Η completeness έχει το μεγαλύτερο βάρος, γιατί αυτό είναι το πρόβλημα του σεναρίου. Η uniqueness έχει το μικρότερο, γιατί χωρίς αναγνωριστικά λογαριασμών δεν μπορώ να πω με βεβαιότητα ότι δύο ίδιες γραμμές είναι διπλότυπα.</a:t>
            </a:r>
          </a:p>
          <a:p/>
          <a:p>
            <a:r>
              <a:t>Όμως ένα καλύτερο DQS δεν αρκεί για αποδοχή. Η πολιτική ελέγχει και τη μεταβολή της PR-AUC, τα όρια για Recall και Precision, αν όλα τα μοντέλα ολοκληρώθηκαν και πόσο αυξήθηκε ο χρόνος.»</a:t>
            </a:r>
          </a:p>
          <a:p/>
          <a:p>
            <a:r>
              <a:t>ΑΝ ΡΩΤΗΣΟΥΝ</a:t>
            </a:r>
          </a:p>
          <a:p>
            <a:r>
              <a:t>• «Γιατί αυτά τα βάρη; Δεν είναι αυθαίρετα;» → Κατά τον OECD (2008), τα βάρη ενός σύνθετου δείκτη είναι πάντα αξιολογική κρίση. Γι' αυτό τα όρισα εκ των προτέρων και έκανα ανάλυση ευαισθησίας: η απόφαση ACCEPT για το τελικό plan ισχύει για οποιοδήποτε βάρος completeness πάνω από 0,014, ακόμη και με ίσα βάρη.</a:t>
            </a:r>
          </a:p>
          <a:p>
            <a:r>
              <a:t>• «Τι γίνεται αν το LLM επιστρέψει λάθος JSON;» → Ο Validator το απορρίπτει, ο κόμβος Assess Invalid Strategy καταγράφει τα σφάλματα, και αυτά δίνονται ως feedback στον επόμενο γύρο. Τίποτα δεν εκτελείται.</a:t>
            </a:r>
          </a:p>
          <a:p>
            <a:r>
              <a:t>• «Γιατί open-weight μοντέλο;» → Αναπαραγωγιμότητα, μηδενικό κόστος, και μια τράπεζα θα μπορούσε να το τρέξει τοπικά χωρίς να στείλει δεδομένα σε τρίτους.</a:t>
            </a:r>
          </a:p>
          <a:p>
            <a:r>
              <a:t>• «Γιατί LangGraph;» → Ρητή κατάσταση (state), γράφος με conditional edges για τις αποφάσεις, checkpoints για αναπαραγωγιμότητα και πλήρη καταγραφή κάθε βήματος.</a:t>
            </a:r>
          </a:p>
          <a:p>
            <a:r>
              <a:t>• «Αποθηκεύονται prompts;» → Όχι. Καταγράφονται μόνο αριθμός κλήσεων, retries, tokens και χρόνοι. Το API key διαβάζεται μόνο από το περιβάλλον.</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Περίπου 2 λεπτά.  Κλικ: 5 (επικεφαλίδα, 3 γραμμές, συμπεράσματα). Αυτή η διαφάνεια είναι η «ιστορία» του Agent. Πες την σαν ιστορία, γύρο-γύρο.</a:t>
            </a:r>
          </a:p>
          <a:p/>
          <a:p>
            <a:r>
              <a:t>[ΚΛΙΚ 1] → επικεφαλίδα πίνακα</a:t>
            </a:r>
          </a:p>
          <a:p>
            <a:r>
              <a:t>«Στην τελική εκτέλεση ο Agent χρησιμοποίησε και τους τρεις διαθέσιμους γύρους. Ας δούμε τι έγινε σε κάθε έναν.»</a:t>
            </a:r>
          </a:p>
          <a:p/>
          <a:p>
            <a:r>
              <a:t>[ΚΛΙΚ 2] → Plan 1</a:t>
            </a:r>
          </a:p>
          <a:p>
            <a:r>
              <a:t>«Στον πρώτο γύρο το LLM πρότεινε να συμπληρωθούν οι κενές τιμές της type με την πιο συχνή τιμή (most-frequent imputation) και να πάρει τον λογάριθμο του amount. Το DQS βελτιώθηκε (+0,0017), αλλά η μέση PR-AUC έπεσε κατά 0,0149 και η Precision της Logistic Regression ξεπέρασε το επιτρεπτό όριο πτώσης. Η πολιτική απάντησε RETRY με κωδικό metric_guardrail_violation.</a:t>
            </a:r>
          </a:p>
          <a:p>
            <a:r>
              <a:t>Αυτό δείχνει γιατί δεν αρκεί η ποιότητα: το plan "έφτιαξε" τα δεδομένα στα χαρτιά, αλλά χειροτέρεψε το μοντέλο. Μια εύλογη εξήγηση είναι ότι η most-frequent imputation βάζει όλες τις κενές συναλλαγές στον πιο συχνό τύπο, άρα αναμειγνύει τύπους με πολύ διαφορετικό κίνδυνο απάτης.»</a:t>
            </a:r>
          </a:p>
          <a:p/>
          <a:p>
            <a:r>
              <a:t>[ΚΛΙΚ 3] → Plan 2</a:t>
            </a:r>
          </a:p>
          <a:p>
            <a:r>
              <a:t>«Στον δεύτερο γύρο πρότεινε standard scaling για τη Logistic Regression. Αυτό όμως υπήρχε ήδη στο baseline, άρα δεν άλλαξε τίποτα: ούτε η ποιότητα ούτε η απόδοση. Η πολιτική απάντησε ξανά RETRY, με κωδικό insufficient_improvement. Εδώ φαίνεται ότι οι προτάσεις του LLM ελέγχονται απέναντι στην πραγματικότητα και δεν γίνονται δεκτές επειδή "ακούγονται" λογικές.»</a:t>
            </a:r>
          </a:p>
          <a:p/>
          <a:p>
            <a:r>
              <a:t>[ΚΛΙΚ 4] → Plan 3</a:t>
            </a:r>
          </a:p>
          <a:p>
            <a:r>
              <a:t>«Στον τρίτο γύρο ο Agent άλλαξε προσέγγιση. Συμπλήρωσε τις κενές τιμές με μια ξεχωριστή κατηγορία "missing" και μετά έκανε one-hot encoding. Η completeness αποκαταστάθηκε, το DQS ανέβηκε από 0,997569 σε 0,999712 (+0,002143), η PR-AUC δεν άλλαξε και κανένα όριο δεν παραβιάστηκε. Η πολιτική απάντησε ACCEPT, με κωδικό improvement_accepted. Το plan πέρασε την επικύρωση χωρίς κανένα σφάλμα.»</a:t>
            </a:r>
          </a:p>
          <a:p/>
          <a:p>
            <a:r>
              <a:t>[ΚΛΙΚ 5] → συμπεράσματα της διαφάνειας</a:t>
            </a:r>
          </a:p>
          <a:p>
            <a:r>
              <a:t>«Το σημαντικό εδώ: ο Agent συμπεριφέρθηκε όπως σχεδιάστηκε. Απέρριψε μια στρατηγική που έβλαπτε, αναγνώρισε μια άχρηστη και, με βάση το feedback, πρότεινε κάτι διαφορετικό. Επίσης, η ανάλυση ευαισθησίας έδειξε ότι η αποδοχή του plan 3 δεν εξαρτάται από τα βάρη του DQS: με τα επιλεγμένα βάρη, με ίσα βάρη, με πολύ μικρό βάρος completeness ή μόνο με completeness, η απόφαση είναι πάντα ACCEPT.»</a:t>
            </a:r>
          </a:p>
          <a:p/>
          <a:p>
            <a:r>
              <a:t>ΑΝ ΡΩΤΗΣΟΥΝ</a:t>
            </a:r>
          </a:p>
          <a:p>
            <a:r>
              <a:t>• «Δεν είναι πρόβλημα ότι αποδέχθηκε plan χωρίς προβλεπτικό κέρδος;» → Είναι σχεδιαστική επιλογή: η πολιτική μετρά και τη βελτίωση ποιότητας ως όφελος, εφόσον δεν βλάπτεται η απόδοση. Το αναφέρω ρητά στους περιορισμούς. Μια μελλοντική εκδοχή θα μπορούσε να απαιτεί και προβλεπτικό κέρδος ή να χρησιμοποιεί στόχο που συνυπολογίζει το κόστος.</a:t>
            </a:r>
          </a:p>
          <a:p>
            <a:r>
              <a:t>• «Θα έβγαινε το ίδιο plan αν το ξανατρέχατε;» → Όχι απαραίτητα. Με temperature 0 και σταθερά seeds η διακύμανση μειώνεται, αλλά η απομακρυσμένη παραγωγή LLM δεν είναι απόλυτα ντετερμινιστική. Μια προκαταρκτική εκτέλεση, πριν από μεθοδολογικές διορθώσεις, κατέληξε σε διαφορετικό plan. Γι' αυτό προτείνω πολλαπλές εκτελέσεις στη μελλοντική έρευνα.</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Περίπου 2,5 λεπτά.  Κλικ: 3.</a:t>
            </a:r>
          </a:p>
          <a:p/>
          <a:p>
            <a:r>
              <a:t>[ΚΛΙΚ 1] → ο πίνακας</a:t>
            </a:r>
          </a:p>
          <a:p>
            <a:r>
              <a:t>«Ας δούμε την προβλεπτική απόδοση. Οι δύο πρώτες στήλες δείχνουν τη μέση PR-AUC στα 25 folds του cross-validation, οι επόμενες δύο την PR-AUC στο ανεξάρτητο test set. Το καλύτερο μοντέλο και στις δύο προσεγγίσεις είναι το Random Forest, με 0,83 στο CV και 0,35 στο test. Ακολουθεί το Decision Tree στο CV, αλλά στο test πέφτει πολύ (0,08), δηλαδή γενικεύει χειρότερα. Η Logistic Regression είναι στη μέση.»</a:t>
            </a:r>
          </a:p>
          <a:p/>
          <a:p>
            <a:r>
              <a:t>[ΚΛΙΚ 2] → η κάρτα «0,0000»</a:t>
            </a:r>
          </a:p>
          <a:p>
            <a:r>
              <a:t>«Και εδώ είναι το κεντρικό αποτέλεσμα: οι τιμές είναι ταυτόσημες. Όχι περίπου ίδιες, ταυτόσημες, μέχρι το έκτο δεκαδικό. Για παράδειγμα, το Random Forest έχει PR-AUC 0,347376 στο test και στις δύο προσεγγίσεις. Το ίδιο ισχύει για κάθε μοντέλο και κάθε μετρική.»</a:t>
            </a:r>
          </a:p>
          <a:p/>
          <a:p>
            <a:r>
              <a:t>[ΚΛΙΚ 3] → οι κουκκίδες</a:t>
            </a:r>
          </a:p>
          <a:p>
            <a:r>
              <a:t>«Και στα 25 folds, για κάθε μοντέλο και μετρική, είχαμε 25 ισοπαλίες. Έκανα δύο στατιστικούς ελέγχους:</a:t>
            </a:r>
          </a:p>
          <a:p>
            <a:r>
              <a:t>– Το Wilcoxon signed-rank test είναι μη παραμετρικό τεστ για ζευγαρωτές παρατηρήσεις. Εξετάζει αν οι διαφορές ανά fold είναι συστηματικά θετικές ή αρνητικές.</a:t>
            </a:r>
          </a:p>
          <a:p>
            <a:r>
              <a:t>– Το corrected resampled t-test των Nadeau &amp; Bengio (2003). Το χρησιμοποίησα επειδή στο repeated CV τα training sets επικαλύπτονται, άρα οι 25 μετρήσεις δεν είναι ανεξάρτητες και ένα απλό t-test θα υποτιμούσε τη διακύμανση.</a:t>
            </a:r>
          </a:p>
          <a:p>
            <a:r>
              <a:t>– Η διόρθωση Holm–Bonferroni προσαρμόζει τα p-values επειδή έκανα πολλές συγκρίσεις (3 μοντέλα × 4 μετρικές = 12), ώστε να μη βρω κάτι "σημαντικό" κατά τύχη.</a:t>
            </a:r>
          </a:p>
          <a:p>
            <a:r>
              <a:t>Όλα τα p-values βγήκαν 1,000. Η μηδενική υπόθεση δεν απορρίπτεται.</a:t>
            </a:r>
          </a:p>
          <a:p/>
          <a:p>
            <a:r>
              <a:t>Γιατί η Precision στο test είναι τόσο χαμηλή; Π.χ. η Logistic Regression πιάνει το 99,6% των απατών (Recall 0,9958) αλλά έχει Precision μόνο 0,032. Ο λόγος είναι ότι το δείγμα εκπαίδευσης έχει 9,09% απάτη, ενώ το test μόνο 1,34%. Τα μοντέλα "έμαθαν" ότι η απάτη είναι πιο συχνή απ' ό,τι είναι, και με σταθερό threshold 0,50 βγάζουν πολλά false positives. Επίσης, η PR-AUC ενός τυχαίου μοντέλου ισούται περίπου με το ποσοστό απάτης. Στο test αυτό είναι 0,0134, άρα το 0,347 του Random Forest είναι περίπου 26 φορές καλύτερο από τυχαίο.»</a:t>
            </a:r>
          </a:p>
          <a:p/>
          <a:p>
            <a:r>
              <a:t>ΑΝ ΡΩΤΗΣΟΥΝ</a:t>
            </a:r>
          </a:p>
          <a:p>
            <a:r>
              <a:t>• «Ταυτόσημα μέχρι το έκτο δεκαδικό; Μήπως είναι bug;» → Το εξέτασα. Η εξήγηση είναι μηχανιστική και τη δείχνω στην επόμενη διαφάνεια: τα δύο pipelines παράγουν τον ίδιο πίνακα χαρακτηριστικών, άρα ντετερμινιστικά μοντέλα με ίδιο seed δίνουν ίδιες προβλέψεις. Στο plan 1, που άλλαζε τα δεδομένα, οι μετρικές άλλαξαν, άρα η αξιολόγηση «βλέπει» τις αλλαγές.</a:t>
            </a:r>
          </a:p>
          <a:p>
            <a:r>
              <a:t>• «Δεν θα έπρεπε να διορθώσετε το threshold για το test;» → Ναι, σε πραγματική εφαρμογή θα γινόταν calibration ή βελτιστοποίηση threshold. Εδώ κράτησα σταθερό threshold για δίκαιη σύγκριση, και η PR-AUC δεν εξαρτάται από αυτό.</a:t>
            </a:r>
          </a:p>
          <a:p>
            <a:r>
              <a:t>• «Γιατί το Decision Tree πέφτει τόσο στο test;» → Ένα μεμονωμένο δέντρο τείνει σε overfitting και είναι ευαίσθητο στην αλλαγή κατανομής. Το Random Forest, ως ensemble, είναι πιο σταθερό.</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Περίπου 2,5 λεπτά.  Κλικ: 5. Αυτή είναι η πιο σημαντική διαφάνεια για να δείξεις ότι καταλαβαίνεις σε βάθος τα αποτελέσματά σου.</a:t>
            </a:r>
          </a:p>
          <a:p/>
          <a:p>
            <a:r>
              <a:t>[ΚΛΙΚ 1] → «Συμβατικό pipeline»</a:t>
            </a:r>
          </a:p>
          <a:p>
            <a:r>
              <a:t>«Γιατί λοιπόν τα αποτελέσματα είναι ταυτόσημα; Η απάντηση βρίσκεται σε μια λεπτομέρεια του baseline. Ο OneHotEncoder του scikit-learn, όταν συναντά κενή τιμή, δεν σπάει. Την αντιμετωπίζει ως ξεχωριστή κατηγορία και της δίνει δική της στήλη. Άρα το συμβατικό pipeline ήδη "χειριζόταν" σιωπηρά τις κενές τιμές.»</a:t>
            </a:r>
          </a:p>
          <a:p/>
          <a:p>
            <a:r>
              <a:t>[ΚΛΙΚ 2] → «=» και «Plan 3»</a:t>
            </a:r>
          </a:p>
          <a:p>
            <a:r>
              <a:t>«Το plan 3 του Agent έκανε ρητά ακριβώς το ίδιο: έβαλε την ετικέτα "missing" στις κενές τιμές και μετά one-hot. Άρα και πάλι οι κενές τιμές πήραν δική τους στήλη. Η μόνη διαφορά είναι το όνομα της στήλης.»</a:t>
            </a:r>
          </a:p>
          <a:p/>
          <a:p>
            <a:r>
              <a:t>[ΚΛΙΚ 3] → «Ίδιος πίνακας χαρακτηριστικών»</a:t>
            </a:r>
          </a:p>
          <a:p>
            <a:r>
              <a:t>«Αποτέλεσμα: τα μοντέλα είδαν ακριβώς τον ίδιο πίνακα αριθμών, άρα έδωσαν ακριβώς τις ίδιες προβλέψεις. Ο Agent αποκατέστησε την πληρότητα των δεδομένων, οπότε το DQS ανέβηκε, αλλά δεν έδωσε στα μοντέλα καμία νέα πληροφορία.»</a:t>
            </a:r>
          </a:p>
          <a:p/>
          <a:p>
            <a:r>
              <a:t>[ΚΛΙΚ 4] → δύο επιπλέον λόγοι</a:t>
            </a:r>
          </a:p>
          <a:p>
            <a:r>
              <a:t>«Υπάρχουν δύο ακόμη λόγοι. Πρώτον, η ίδια η αλλοίωση είχε μικρή επίδραση: από τα καθαρά στα αλλοιωμένα δεδομένα η PR-AUC έπεσε μόνο 0,002 έως 0,008, άρα το περιθώριο βελτίωσης ήταν μικρό από την αρχή. Δεύτερον, η τιμή που αφαιρέθηκε είναι MCAR και καμία άλλη στήλη δεν την αποκαλύπτει, οπότε κανένας μετασχηματισμός δεν μπορεί να την "μαντέψει".</a:t>
            </a:r>
          </a:p>
          <a:p/>
          <a:p>
            <a:r>
              <a:t>Το γενικότερο συμπέρασμα, και ίσως η πιο χρήσιμη συμβολή της εργασίας: η αξία ενός Agentic preprocessing εξαρτάται από το πόσο ισχυρό είναι το baseline. Αν το συμβατικό pipeline ήδη χειρίζεται το πρόβλημα, ο Agent βελτιώνει τους δείκτες ποιότητας χωρίς να αλλάζει την πληροφορία που φτάνει στο μοντέλο.»</a:t>
            </a:r>
          </a:p>
          <a:p/>
          <a:p>
            <a:r>
              <a:t>[ΚΛΙΚ 5] → κάρτες κόστους (ΕΕ2)</a:t>
            </a:r>
          </a:p>
          <a:p>
            <a:r>
              <a:t>«Για το δεύτερο ερώτημα, το κόστος:</a:t>
            </a:r>
          </a:p>
          <a:p>
            <a:r>
              <a:t>– Runtime multiplier 1,005: η αξιολόγηση με το επιλεγμένο plan ήταν μόλις 0,5% πιο αργή από το baseline. Από μόνο του το plan σχεδόν δεν κοστίζει.</a:t>
            </a:r>
          </a:p>
          <a:p>
            <a:r>
              <a:t>– Όμως η συνολική διαδικασία του Agent χρειάστηκε τρεις πλήρεις κύκλους αξιολόγησης, τρεις κλήσεις στο LLM με 9.204 tokens και περίπου 497 δευτερόλεπτα.</a:t>
            </a:r>
          </a:p>
          <a:p>
            <a:r>
              <a:t>– Η αύξηση της μνήμης (peak RSS, από την αρχή ως την κορυφή κάθε σταδίου) ήταν 77,0 MiB για τον Agent έναντι 48,6 MiB για το baseline.</a:t>
            </a:r>
          </a:p>
          <a:p>
            <a:r>
              <a:t>– Το χρηματικό κόστος ήταν $0, επειδή χρησιμοποίησα το Groq Free Tier. Αυτό δεν είναι γενική τιμολόγηση.</a:t>
            </a:r>
          </a:p>
          <a:p>
            <a:r>
              <a:t>Άρα, αφού δεν υπήρξε προβλεπτικό όφελος, το πρόσθετο κόστος δεν δικαιολογείται από την απόδοση σε αυτό το σενάριο. Η αξία του Agent εδώ ήταν η αποκατάσταση της πληρότητας, η αυτόματη απόρριψη μιας επιβλαβούς στρατηγικής και η πλήρης καταγραφή των αποφάσεων.»</a:t>
            </a:r>
          </a:p>
          <a:p/>
          <a:p>
            <a:r>
              <a:t>ΑΝ ΡΩΤΗΣΟΥΝ</a:t>
            </a:r>
          </a:p>
          <a:p>
            <a:r>
              <a:t>• «Τότε ποια η αξία του Agent;» → Προσαρμοστικότητα, ασφάλεια και auditability. Σε ένα πιο αδύναμο baseline ή σε πιο σύνθετες αλλοιώσεις θα μπορούσε να κάνει διαφορά. Επίσης απέρριψε αυτόματα μια στρατηγική που θα έβλαπτε το μοντέλο, κάτι που ένας άνθρωπος μπορεί να μην πρόσεχε.</a:t>
            </a:r>
          </a:p>
          <a:p>
            <a:r>
              <a:t>• «Κλιμακώνεται σε 6 εκατομμύρια γραμμές;» → Το LLM βλέπει μόνο σύνοψη, άρα το κόστος του LLM δεν εξαρτάται από το μέγεθος των δεδομένων. Αυτό που κλιμακώνεται είναι η αξιολόγηση των μοντέλων σε κάθε γύρο.</a:t>
            </a:r>
          </a:p>
          <a:p>
            <a:r>
              <a:t>• «Γιατί η μνήμη συγκρίνεται ως αύξηση και όχι ως απόλυτη τιμή;» → Τα στάδια ξεκίνησαν από διαφορετική αρχική μνήμη. Η αύξηση από την αρχή ως την κορυφή (δειγματοληψία ανά 50 ms) είναι πιο δίκαιη σύγκριση.</a:t>
            </a:r>
          </a:p>
          <a:p>
            <a:r>
              <a:t>• «Δεν θα έπρεπε να συγκρίνετε και με baseline με mode imputation;» → Ναι, και το αναφέρω στους περιορισμούς. Ένα επιπλέον baseline, καθώς και ένας rule-based agent χωρίς LLM, θα απομόνωναν τη συμβολή του γλωσσικού μοντέλου.</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Περίπου 2 λεπτά, και μετά ερωτήσεις.  Κλικ: 4.</a:t>
            </a:r>
          </a:p>
          <a:p/>
          <a:p>
            <a:r>
              <a:t>[ΚΛΙΚ 1] → βασικά ευρήματα</a:t>
            </a:r>
          </a:p>
          <a:p>
            <a:r>
              <a:t>«Συνοψίζοντας. Η εργασία ανέπτυξε και αξιολόγησε έναν LangGraph Agent για αυτοματοποιημένη διαχείριση ποιότητας δεδομένων πριν από την εκπαίδευση μοντέλων ανίχνευσης απάτης.</a:t>
            </a:r>
          </a:p>
          <a:p>
            <a:r>
              <a:t>– Για το πρώτο ερώτημα: το Agentic preprocessing δεν βελτίωσε την προβλεπτική απόδοση σε κανένα μοντέλο, γιατί το αποδεκτό plan ήταν λειτουργικά ισοδύναμο με το baseline.</a:t>
            </a:r>
          </a:p>
          <a:p>
            <a:r>
              <a:t>– Για το δεύτερο: το επιπλέον κόστος δεν συνοδεύτηκε από προβλεπτικό όφελος. Ένα καλά σχεδιασμένο συμβατικό pipeline ήταν επαρκές.</a:t>
            </a:r>
          </a:p>
          <a:p>
            <a:r>
              <a:t>– Ο Agent όμως λειτούργησε ακριβώς όπως σχεδιάστηκε: με ασφάλεια, χωρίς πρόσβαση σε raw δεδομένα ή στο test, χωρίς αυθαίρετο κώδικα, και με πλήρη καταγραφή κάθε απόφασης.</a:t>
            </a:r>
          </a:p>
          <a:p>
            <a:r>
              <a:t>– Και το βασικό μήνυμα: η αξία του Agent εξαρτάται από το πόσο ισχυρό είναι το baseline.</a:t>
            </a:r>
          </a:p>
          <a:p/>
          <a:p>
            <a:r>
              <a:t>Η συμβολή είναι διπλή. Τεχνικά, ένας πλήρης και ασφαλής Agentic μηχανισμός για preprocessing, όχι απλή χρήση LLM για συμβουλές: immutable state, δομημένη έξοδος, αυστηρή επικύρωση, allowlist, ντετερμινιστική εκτέλεση, feedback, όριο επαναλήψεων, checkpoints και 103 αυτοματοποιημένοι έλεγχοι. Εμπειρικά, ένα αναπαραγώγιμο πλαίσιο για δίκαιη σύγκριση συμβατικού και Agentic preprocessing, που εξετάζει μαζί ποιότητα, απόδοση, χρόνο, μνήμη και χρήση LLM.»</a:t>
            </a:r>
          </a:p>
          <a:p/>
          <a:p>
            <a:r>
              <a:t>[ΚΛΙΚ 2] → περιορισμοί</a:t>
            </a:r>
          </a:p>
          <a:p>
            <a:r>
              <a:t>«Οι περιορισμοί: το PaySim είναι συνθετικό και δεν αποτυπώνει πλήρως την πολυπλοκότητα πραγματικών συστημάτων. Εξέτασα ένα μόνο είδος αλλοίωσης, που επιπλέον το baseline ήδη χειριζόταν. Ο Agent εκτελέστηκε μία φορά στην τελική διαμόρφωση, με ένα LLM. Και δεν συμπεριέλαβα ένα rule-based baseline χωρίς LLM, που θα απομόνωνε τη συμβολή του γλωσσικού μοντέλου.»</a:t>
            </a:r>
          </a:p>
          <a:p/>
          <a:p>
            <a:r>
              <a:t>[ΚΛΙΚ 3] → μελλοντική έρευνα</a:t>
            </a:r>
          </a:p>
          <a:p>
            <a:r>
              <a:t>«Για τη συνέχεια προτείνω: αξιολόγηση σε πραγματικά, ανωνυμοποιημένα δεδομένα. Δυσκολότερες αλλοιώσεις, π.χ. MAR missingness, όπου η απουσία εξαρτάται από άλλες μεταβλητές, αλλοιώσεις σε αριθμητικά χαρακτηριστικά ή πριν από το feature engineering. Σύγκριση διαφορετικών LLMs και ενός rule-based agent. Πολλαπλές εκτελέσεις για να μετρηθεί η διακύμανση των plans. Επίσης έγκριση από άνθρωπο (human-in-the-loop) για ενέργειες υψηλού κινδύνου και έναν στόχο που συνυπολογίζει κόστος API, χρόνο και μνήμη.»</a:t>
            </a:r>
          </a:p>
          <a:p/>
          <a:p>
            <a:r>
              <a:t>[ΚΛΙΚ 4] → «Σας ευχαριστώ»</a:t>
            </a:r>
          </a:p>
          <a:p>
            <a:r>
              <a:t>«Σας ευχαριστώ πολύ για την προσοχή σας. Είμαι στη διάθεσή σας για ερωτήσεις.»</a:t>
            </a:r>
          </a:p>
          <a:p/>
          <a:p>
            <a:r>
              <a:t>ΓΕΝΙΚΕΣ ΕΡΩΤΗΣΕΙΣ ΠΟΥ ΜΠΟΡΕΙ ΝΑ ΕΡΘΟΥΝ</a:t>
            </a:r>
          </a:p>
          <a:p>
            <a:r>
              <a:t>• «Αν ξεκινούσατε από την αρχή, τι θα αλλάζατε;» → Θα σχεδίαζα δυσκολότερο σενάριο αλλοίωσης, όπου το baseline δεν έχει ήδη τη λύση, θα πρόσθετα rule-based baseline και θα έτρεχα τον Agent πολλές φορές.</a:t>
            </a:r>
          </a:p>
          <a:p>
            <a:r>
              <a:t>• «Τι σημαίνει αυτό για μια τράπεζα;» → Ότι ο Agent είναι πιο χρήσιμος ως βοηθός με έλεγχο και καταγραφή, ιδανικά με human-in-the-loop, παρά ως αντικαταστάτης ενός καλού pipeline. Και ότι πριν από έναν Agent αξίζει να ελέγξει κανείς τι ήδη κάνει σιωπηρά το υπάρχον pipeline.</a:t>
            </a:r>
          </a:p>
          <a:p>
            <a:r>
              <a:t>• «Είναι αναπαραγώγιμη η εργασία;» → Ναι: σταθερά seeds, versioned YAML ρυθμίσεις, αποθηκευμένα plans, checkpoints και metrics, και όλη η ροή τρέχει από τον FullExperimentRunner με 103 αυτοματοποιημένους ελέγχους.</a:t>
            </a:r>
          </a:p>
          <a:p>
            <a:r>
              <a:t>• Αν δεν ξέρεις κάτι: «Καλή ερώτηση. Δεν το εξέτασα στην εργασία, αλλά θα ήταν ενδιαφέρουσα επέκταση.» Είναι πάντα καλύτερο από το να μαντέψεις.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48640"/>
            <a:ext cx="10360152" cy="1005840"/>
          </a:xfrm>
          <a:prstGeom prst="rect">
            <a:avLst/>
          </a:prstGeom>
          <a:noFill/>
        </p:spPr>
        <p:txBody>
          <a:bodyPr wrap="square" anchor="t" lIns="0" rIns="0" tIns="0" bIns="0">
            <a:spAutoFit/>
          </a:bodyPr>
          <a:lstStyle/>
          <a:p>
            <a:pPr algn="ctr">
              <a:spcAft>
                <a:spcPts val="200"/>
              </a:spcAft>
              <a:buNone/>
            </a:pPr>
            <a:r>
              <a:rPr sz="1300" b="0" i="0">
                <a:solidFill>
                  <a:srgbClr val="6B6B6B"/>
                </a:solidFill>
                <a:latin typeface="Calibri"/>
              </a:rPr>
              <a:t>ΣΧΟΛΗ ΕΠΙΣΤΗΜΩΝ ΔΙΟΙΚΗΣΗΣ ΕΠΙΧΕΙΡΗΣΕΩΝ</a:t>
            </a:r>
          </a:p>
          <a:p>
            <a:pPr algn="ctr">
              <a:spcAft>
                <a:spcPts val="200"/>
              </a:spcAft>
              <a:buNone/>
            </a:pPr>
            <a:r>
              <a:rPr sz="1300" b="0" i="0">
                <a:solidFill>
                  <a:srgbClr val="6B6B6B"/>
                </a:solidFill>
                <a:latin typeface="Calibri"/>
              </a:rPr>
              <a:t>ΤΜΗΜΑ ΛΟΓΙΣΤΙΚΗΣ ΚΑΙ ΧΡΗΜΑΤΟΟΙΚΟΝΟΜΙΚΗΣ</a:t>
            </a:r>
          </a:p>
          <a:p>
            <a:pPr algn="ctr">
              <a:spcAft>
                <a:spcPts val="200"/>
              </a:spcAft>
              <a:buNone/>
            </a:pPr>
            <a:r>
              <a:rPr sz="1300" b="0" i="0">
                <a:solidFill>
                  <a:srgbClr val="6B6B6B"/>
                </a:solidFill>
                <a:latin typeface="Calibri"/>
              </a:rPr>
              <a:t>ΠΜΣ στη Χρηματοοικονομική Τεχνολογία (MSc in Financial Technology)</a:t>
            </a:r>
          </a:p>
        </p:txBody>
      </p:sp>
      <p:sp>
        <p:nvSpPr>
          <p:cNvPr id="3" name="TextBox 2"/>
          <p:cNvSpPr txBox="1"/>
          <p:nvPr/>
        </p:nvSpPr>
        <p:spPr>
          <a:xfrm>
            <a:off x="1097280" y="1965960"/>
            <a:ext cx="9994392" cy="1554480"/>
          </a:xfrm>
          <a:prstGeom prst="rect">
            <a:avLst/>
          </a:prstGeom>
          <a:noFill/>
        </p:spPr>
        <p:txBody>
          <a:bodyPr wrap="square" anchor="ctr" lIns="0" rIns="0" tIns="0" bIns="0">
            <a:spAutoFit/>
          </a:bodyPr>
          <a:lstStyle/>
          <a:p>
            <a:pPr algn="ctr">
              <a:spcAft>
                <a:spcPts val="0"/>
              </a:spcAft>
              <a:buNone/>
            </a:pPr>
            <a:r>
              <a:rPr sz="3200" b="1" i="0">
                <a:solidFill>
                  <a:srgbClr val="1F3864"/>
                </a:solidFill>
                <a:latin typeface="Cambria"/>
              </a:rPr>
              <a:t>Agentic AI για αυτοματοποιημένη διαχείριση ποιότητας δεδομένων σε περιβάλλοντα μεγάλων δεδομένων FinTech</a:t>
            </a:r>
          </a:p>
        </p:txBody>
      </p:sp>
      <p:sp>
        <p:nvSpPr>
          <p:cNvPr id="4" name="TextBox 3"/>
          <p:cNvSpPr txBox="1"/>
          <p:nvPr/>
        </p:nvSpPr>
        <p:spPr>
          <a:xfrm>
            <a:off x="1097280" y="3611880"/>
            <a:ext cx="9994392" cy="457200"/>
          </a:xfrm>
          <a:prstGeom prst="rect">
            <a:avLst/>
          </a:prstGeom>
          <a:noFill/>
        </p:spPr>
        <p:txBody>
          <a:bodyPr wrap="square" anchor="t" lIns="0" rIns="0" tIns="0" bIns="0">
            <a:spAutoFit/>
          </a:bodyPr>
          <a:lstStyle/>
          <a:p>
            <a:pPr algn="ctr">
              <a:spcAft>
                <a:spcPts val="600"/>
              </a:spcAft>
              <a:buNone/>
            </a:pPr>
            <a:r>
              <a:rPr sz="1600" b="0" i="1">
                <a:solidFill>
                  <a:srgbClr val="6B6B6B"/>
                </a:solidFill>
                <a:latin typeface="Calibri"/>
              </a:rPr>
              <a:t>Agentic AI for Automated Data Quality Management in FinTech Big Data Environments</a:t>
            </a:r>
          </a:p>
        </p:txBody>
      </p:sp>
      <p:sp>
        <p:nvSpPr>
          <p:cNvPr id="5" name="TextBox 4"/>
          <p:cNvSpPr txBox="1"/>
          <p:nvPr/>
        </p:nvSpPr>
        <p:spPr>
          <a:xfrm>
            <a:off x="914400" y="4526280"/>
            <a:ext cx="10360152" cy="1188720"/>
          </a:xfrm>
          <a:prstGeom prst="rect">
            <a:avLst/>
          </a:prstGeom>
          <a:noFill/>
        </p:spPr>
        <p:txBody>
          <a:bodyPr wrap="square" anchor="t" lIns="0" rIns="0" tIns="0" bIns="0">
            <a:spAutoFit/>
          </a:bodyPr>
          <a:lstStyle/>
          <a:p>
            <a:pPr algn="ctr">
              <a:spcAft>
                <a:spcPts val="400"/>
              </a:spcAft>
              <a:buNone/>
            </a:pPr>
            <a:r>
              <a:rPr sz="1600" b="0" i="0">
                <a:solidFill>
                  <a:srgbClr val="262626"/>
                </a:solidFill>
                <a:latin typeface="Calibri"/>
              </a:rPr>
              <a:t>Διπλωματική Εργασία</a:t>
            </a:r>
          </a:p>
          <a:p>
            <a:pPr algn="ctr">
              <a:spcAft>
                <a:spcPts val="400"/>
              </a:spcAft>
              <a:buNone/>
            </a:pPr>
            <a:r>
              <a:rPr sz="1800" b="1" i="0">
                <a:solidFill>
                  <a:srgbClr val="262626"/>
                </a:solidFill>
                <a:latin typeface="Calibri"/>
              </a:rPr>
              <a:t>Γαληρόπουλος Θεοδόσιος</a:t>
            </a:r>
            <a:r>
              <a:rPr sz="1800" b="0" i="0">
                <a:solidFill>
                  <a:srgbClr val="262626"/>
                </a:solidFill>
                <a:latin typeface="Calibri"/>
              </a:rPr>
              <a:t>  (Α.Μ. mft26004)</a:t>
            </a:r>
          </a:p>
          <a:p>
            <a:pPr algn="ctr">
              <a:spcAft>
                <a:spcPts val="600"/>
              </a:spcAft>
              <a:buNone/>
            </a:pPr>
            <a:r>
              <a:rPr sz="1600" b="0" i="0">
                <a:solidFill>
                  <a:srgbClr val="262626"/>
                </a:solidFill>
                <a:latin typeface="Calibri"/>
              </a:rPr>
              <a:t>Επιβλέπων: Μοσχίδης Στράτος, Επισκέπτης Καθηγητής</a:t>
            </a:r>
          </a:p>
        </p:txBody>
      </p:sp>
      <p:sp>
        <p:nvSpPr>
          <p:cNvPr id="6" name="TextBox 5"/>
          <p:cNvSpPr txBox="1"/>
          <p:nvPr/>
        </p:nvSpPr>
        <p:spPr>
          <a:xfrm>
            <a:off x="914400" y="5989320"/>
            <a:ext cx="10360152" cy="365760"/>
          </a:xfrm>
          <a:prstGeom prst="rect">
            <a:avLst/>
          </a:prstGeom>
          <a:noFill/>
        </p:spPr>
        <p:txBody>
          <a:bodyPr wrap="square" anchor="t" lIns="0" rIns="0" tIns="0" bIns="0">
            <a:spAutoFit/>
          </a:bodyPr>
          <a:lstStyle/>
          <a:p>
            <a:pPr algn="ctr">
              <a:spcAft>
                <a:spcPts val="600"/>
              </a:spcAft>
              <a:buNone/>
            </a:pPr>
            <a:r>
              <a:rPr sz="1300" b="0" i="0">
                <a:solidFill>
                  <a:srgbClr val="6B6B6B"/>
                </a:solidFill>
                <a:latin typeface="Calibri"/>
              </a:rPr>
              <a:t>Θεσσαλονίκη, Σεπτέμβριος 2026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2" fill="hold">
                      <p:stCondLst>
                        <p:cond delay="indefinite"/>
                        <p:cond evt="onBegin" delay="0">
                          <p:tn val="2"/>
                        </p:cond>
                      </p:stCondLst>
                      <p:childTnLst>
                        <p:par>
                          <p:cTn id="6"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3" dur="500"/>
                                        <p:tgtEl>
                                          <p:spTgt spid="2"/>
                                        </p:tgtEl>
                                      </p:cBhvr>
                                    </p:animEffect>
                                  </p:childTnLst>
                                </p:cTn>
                              </p:par>
                            </p:childTnLst>
                          </p:cTn>
                        </p:par>
                        <p:par>
                          <p:cTn id="11"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ppt_y</p:attrName>
                                        </p:attrNameLst>
                                      </p:cBhvr>
                                      <p:tavLst>
                                        <p:tav tm="0">
                                          <p:val>
                                            <p:strVal val="#ppt_y+0.05"/>
                                          </p:val>
                                        </p:tav>
                                        <p:tav tm="100000">
                                          <p:val>
                                            <p:strVal val="#ppt_y"/>
                                          </p:val>
                                        </p:tav>
                                      </p:tavLst>
                                    </p:anim>
                                  </p:childTnLst>
                                </p:cTn>
                              </p:par>
                            </p:childTnLst>
                          </p:cTn>
                        </p:par>
                        <p:par>
                          <p:cTn id="21"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6" presetID="10" presetClass="entr" presetSubtype="0" fill="hold"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9" presetID="10" presetClass="entr" presetSubtype="0" fill="hold" nodeType="withEffect">
                                  <p:stCondLst>
                                    <p:cond delay="600"/>
                                  </p:stCondLst>
                                  <p:childTnLst>
                                    <p:set>
                                      <p:cBhvr>
                                        <p:cTn id="20"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731520"/>
          </a:xfrm>
          <a:prstGeom prst="rect">
            <a:avLst/>
          </a:prstGeom>
          <a:noFill/>
        </p:spPr>
        <p:txBody>
          <a:bodyPr wrap="square" anchor="ctr" lIns="0" rIns="0" tIns="0" bIns="0">
            <a:spAutoFit/>
          </a:bodyPr>
          <a:lstStyle/>
          <a:p>
            <a:pPr algn="l">
              <a:spcAft>
                <a:spcPts val="600"/>
              </a:spcAft>
              <a:buNone/>
            </a:pPr>
            <a:r>
              <a:rPr sz="3200" b="1" i="0">
                <a:solidFill>
                  <a:srgbClr val="1F3864"/>
                </a:solidFill>
                <a:latin typeface="Cambria"/>
              </a:rPr>
              <a:t>Ερευνητικό πρόβλημα και σκοπός</a:t>
            </a:r>
          </a:p>
        </p:txBody>
      </p:sp>
      <p:sp>
        <p:nvSpPr>
          <p:cNvPr id="3" name="TextBox 2"/>
          <p:cNvSpPr txBox="1"/>
          <p:nvPr/>
        </p:nvSpPr>
        <p:spPr>
          <a:xfrm>
            <a:off x="640080" y="6355080"/>
            <a:ext cx="9601200" cy="274320"/>
          </a:xfrm>
          <a:prstGeom prst="rect">
            <a:avLst/>
          </a:prstGeom>
          <a:noFill/>
        </p:spPr>
        <p:txBody>
          <a:bodyPr wrap="square" anchor="t" lIns="0" rIns="0" tIns="0" bIns="0">
            <a:spAutoFit/>
          </a:bodyPr>
          <a:lstStyle/>
          <a:p>
            <a:pPr algn="l">
              <a:spcAft>
                <a:spcPts val="600"/>
              </a:spcAft>
              <a:buNone/>
            </a:pPr>
            <a:r>
              <a:rPr sz="1000" b="0" i="0">
                <a:solidFill>
                  <a:srgbClr val="6B6B6B"/>
                </a:solidFill>
                <a:latin typeface="Calibri"/>
              </a:rPr>
              <a:t>Γαληρόπουλος Θεοδόσιος  ·  Agentic AI για αυτοματοποιημένη διαχείριση ποιότητας δεδομένων</a:t>
            </a:r>
          </a:p>
        </p:txBody>
      </p:sp>
      <p:sp>
        <p:nvSpPr>
          <p:cNvPr id="4" name="TextBox 3"/>
          <p:cNvSpPr txBox="1"/>
          <p:nvPr/>
        </p:nvSpPr>
        <p:spPr>
          <a:xfrm>
            <a:off x="10607040" y="6355080"/>
            <a:ext cx="914400" cy="274320"/>
          </a:xfrm>
          <a:prstGeom prst="rect">
            <a:avLst/>
          </a:prstGeom>
          <a:noFill/>
        </p:spPr>
        <p:txBody>
          <a:bodyPr wrap="square" anchor="t" lIns="0" rIns="0" tIns="0" bIns="0">
            <a:spAutoFit/>
          </a:bodyPr>
          <a:lstStyle/>
          <a:p>
            <a:pPr algn="r">
              <a:spcAft>
                <a:spcPts val="600"/>
              </a:spcAft>
              <a:buNone/>
            </a:pPr>
            <a:r>
              <a:rPr sz="1000" b="0" i="0">
                <a:solidFill>
                  <a:srgbClr val="6B6B6B"/>
                </a:solidFill>
                <a:latin typeface="Calibri"/>
              </a:rPr>
              <a:t>2 / 10</a:t>
            </a:r>
          </a:p>
        </p:txBody>
      </p:sp>
      <p:sp>
        <p:nvSpPr>
          <p:cNvPr id="5" name="TextBox 4"/>
          <p:cNvSpPr txBox="1"/>
          <p:nvPr/>
        </p:nvSpPr>
        <p:spPr>
          <a:xfrm>
            <a:off x="640080" y="1417320"/>
            <a:ext cx="5212080" cy="457200"/>
          </a:xfrm>
          <a:prstGeom prst="rect">
            <a:avLst/>
          </a:prstGeom>
          <a:noFill/>
        </p:spPr>
        <p:txBody>
          <a:bodyPr wrap="square" anchor="t" lIns="0" rIns="0" tIns="0" bIns="0">
            <a:spAutoFit/>
          </a:bodyPr>
          <a:lstStyle/>
          <a:p>
            <a:pPr algn="l">
              <a:spcAft>
                <a:spcPts val="600"/>
              </a:spcAft>
              <a:buNone/>
            </a:pPr>
            <a:r>
              <a:rPr sz="2200" b="1" i="0">
                <a:solidFill>
                  <a:srgbClr val="1F3864"/>
                </a:solidFill>
                <a:latin typeface="Cambria"/>
              </a:rPr>
              <a:t>Πρόβλημα</a:t>
            </a:r>
          </a:p>
        </p:txBody>
      </p:sp>
      <p:sp>
        <p:nvSpPr>
          <p:cNvPr id="6" name="TextBox 5"/>
          <p:cNvSpPr txBox="1"/>
          <p:nvPr/>
        </p:nvSpPr>
        <p:spPr>
          <a:xfrm>
            <a:off x="640080" y="1965960"/>
            <a:ext cx="5212080" cy="571500"/>
          </a:xfrm>
          <a:prstGeom prst="rect">
            <a:avLst/>
          </a:prstGeom>
          <a:noFill/>
        </p:spPr>
        <p:txBody>
          <a:bodyPr wrap="square" anchor="t" lIns="0" rIns="0" tIns="0" bIns="0">
            <a:spAutoFit/>
          </a:bodyPr>
          <a:lstStyle/>
          <a:p>
            <a:pPr algn="l" marL="256032" indent="-256032">
              <a:spcAft>
                <a:spcPts val="0"/>
              </a:spcAft>
              <a:buFont typeface="Arial"/>
              <a:buChar char="•"/>
            </a:pPr>
            <a:r>
              <a:rPr sz="1800" b="1" i="0">
                <a:solidFill>
                  <a:srgbClr val="262626"/>
                </a:solidFill>
                <a:latin typeface="Calibri"/>
              </a:rPr>
              <a:t/>
            </a:r>
            <a:r>
              <a:rPr sz="1800" b="0" i="0">
                <a:solidFill>
                  <a:srgbClr val="262626"/>
                </a:solidFill>
                <a:latin typeface="Calibri"/>
              </a:rPr>
              <a:t>Οι απατηλές συναλλαγές είναι ελάχιστες σε σχέση με τις νόμιμες (έντονη ανισορροπία κλάσεων)</a:t>
            </a:r>
          </a:p>
        </p:txBody>
      </p:sp>
      <p:sp>
        <p:nvSpPr>
          <p:cNvPr id="7" name="TextBox 6"/>
          <p:cNvSpPr txBox="1"/>
          <p:nvPr/>
        </p:nvSpPr>
        <p:spPr>
          <a:xfrm>
            <a:off x="640080" y="2702052"/>
            <a:ext cx="5212080" cy="571500"/>
          </a:xfrm>
          <a:prstGeom prst="rect">
            <a:avLst/>
          </a:prstGeom>
          <a:noFill/>
        </p:spPr>
        <p:txBody>
          <a:bodyPr wrap="square" anchor="t" lIns="0" rIns="0" tIns="0" bIns="0">
            <a:spAutoFit/>
          </a:bodyPr>
          <a:lstStyle/>
          <a:p>
            <a:pPr algn="l" marL="256032" indent="-256032">
              <a:spcAft>
                <a:spcPts val="0"/>
              </a:spcAft>
              <a:buFont typeface="Arial"/>
              <a:buChar char="•"/>
            </a:pPr>
            <a:r>
              <a:rPr sz="1800" b="1" i="0">
                <a:solidFill>
                  <a:srgbClr val="262626"/>
                </a:solidFill>
                <a:latin typeface="Calibri"/>
              </a:rPr>
              <a:t/>
            </a:r>
            <a:r>
              <a:rPr sz="1800" b="0" i="0">
                <a:solidFill>
                  <a:srgbClr val="262626"/>
                </a:solidFill>
                <a:latin typeface="Calibri"/>
              </a:rPr>
              <a:t>Ελλιπείς ή λανθασμένες τιμές επηρεάζουν άμεσα τα μοντέλα Μηχανικής Μάθησης</a:t>
            </a:r>
          </a:p>
        </p:txBody>
      </p:sp>
      <p:sp>
        <p:nvSpPr>
          <p:cNvPr id="8" name="TextBox 7"/>
          <p:cNvSpPr txBox="1"/>
          <p:nvPr/>
        </p:nvSpPr>
        <p:spPr>
          <a:xfrm>
            <a:off x="640080" y="3438144"/>
            <a:ext cx="5212080" cy="571500"/>
          </a:xfrm>
          <a:prstGeom prst="rect">
            <a:avLst/>
          </a:prstGeom>
          <a:noFill/>
        </p:spPr>
        <p:txBody>
          <a:bodyPr wrap="square" anchor="t" lIns="0" rIns="0" tIns="0" bIns="0">
            <a:spAutoFit/>
          </a:bodyPr>
          <a:lstStyle/>
          <a:p>
            <a:pPr algn="l" marL="256032" indent="-256032">
              <a:spcAft>
                <a:spcPts val="0"/>
              </a:spcAft>
              <a:buFont typeface="Arial"/>
              <a:buChar char="•"/>
            </a:pPr>
            <a:r>
              <a:rPr sz="1800" b="1" i="0">
                <a:solidFill>
                  <a:srgbClr val="262626"/>
                </a:solidFill>
                <a:latin typeface="Calibri"/>
              </a:rPr>
              <a:t/>
            </a:r>
            <a:r>
              <a:rPr sz="1800" b="0" i="0">
                <a:solidFill>
                  <a:srgbClr val="262626"/>
                </a:solidFill>
                <a:latin typeface="Calibri"/>
              </a:rPr>
              <a:t>Τα συμβατικά pipelines προεπεξεργασίας είναι σταθερά και δεν προσαρμόζονται στα δεδομένα</a:t>
            </a:r>
          </a:p>
        </p:txBody>
      </p:sp>
      <p:sp>
        <p:nvSpPr>
          <p:cNvPr id="9" name="TextBox 8"/>
          <p:cNvSpPr txBox="1"/>
          <p:nvPr/>
        </p:nvSpPr>
        <p:spPr>
          <a:xfrm>
            <a:off x="6355080" y="1417320"/>
            <a:ext cx="5212080" cy="457200"/>
          </a:xfrm>
          <a:prstGeom prst="rect">
            <a:avLst/>
          </a:prstGeom>
          <a:noFill/>
        </p:spPr>
        <p:txBody>
          <a:bodyPr wrap="square" anchor="t" lIns="0" rIns="0" tIns="0" bIns="0">
            <a:spAutoFit/>
          </a:bodyPr>
          <a:lstStyle/>
          <a:p>
            <a:pPr algn="l">
              <a:spcAft>
                <a:spcPts val="600"/>
              </a:spcAft>
              <a:buNone/>
            </a:pPr>
            <a:r>
              <a:rPr sz="2200" b="1" i="0">
                <a:solidFill>
                  <a:srgbClr val="1F3864"/>
                </a:solidFill>
                <a:latin typeface="Cambria"/>
              </a:rPr>
              <a:t>Σκοπός</a:t>
            </a:r>
          </a:p>
        </p:txBody>
      </p:sp>
      <p:sp>
        <p:nvSpPr>
          <p:cNvPr id="10" name="TextBox 9"/>
          <p:cNvSpPr txBox="1"/>
          <p:nvPr/>
        </p:nvSpPr>
        <p:spPr>
          <a:xfrm>
            <a:off x="6355080" y="1965960"/>
            <a:ext cx="5212080" cy="571500"/>
          </a:xfrm>
          <a:prstGeom prst="rect">
            <a:avLst/>
          </a:prstGeom>
          <a:noFill/>
        </p:spPr>
        <p:txBody>
          <a:bodyPr wrap="square" anchor="t" lIns="0" rIns="0" tIns="0" bIns="0">
            <a:spAutoFit/>
          </a:bodyPr>
          <a:lstStyle/>
          <a:p>
            <a:pPr algn="l" marL="256032" indent="-256032">
              <a:spcAft>
                <a:spcPts val="0"/>
              </a:spcAft>
              <a:buFont typeface="Arial"/>
              <a:buChar char="•"/>
            </a:pPr>
            <a:r>
              <a:rPr sz="1800" b="1" i="0">
                <a:solidFill>
                  <a:srgbClr val="262626"/>
                </a:solidFill>
                <a:latin typeface="Calibri"/>
              </a:rPr>
              <a:t/>
            </a:r>
            <a:r>
              <a:rPr sz="1800" b="0" i="0">
                <a:solidFill>
                  <a:srgbClr val="262626"/>
                </a:solidFill>
                <a:latin typeface="Calibri"/>
              </a:rPr>
              <a:t>Σχεδιασμός και ανάπτυξη ενός Agent με LangGraph για την προεπεξεργασία δεδομένων</a:t>
            </a:r>
          </a:p>
        </p:txBody>
      </p:sp>
      <p:sp>
        <p:nvSpPr>
          <p:cNvPr id="11" name="TextBox 10"/>
          <p:cNvSpPr txBox="1"/>
          <p:nvPr/>
        </p:nvSpPr>
        <p:spPr>
          <a:xfrm>
            <a:off x="6355080" y="2702052"/>
            <a:ext cx="5212080" cy="571500"/>
          </a:xfrm>
          <a:prstGeom prst="rect">
            <a:avLst/>
          </a:prstGeom>
          <a:noFill/>
        </p:spPr>
        <p:txBody>
          <a:bodyPr wrap="square" anchor="t" lIns="0" rIns="0" tIns="0" bIns="0">
            <a:spAutoFit/>
          </a:bodyPr>
          <a:lstStyle/>
          <a:p>
            <a:pPr algn="l" marL="256032" indent="-256032">
              <a:spcAft>
                <a:spcPts val="0"/>
              </a:spcAft>
              <a:buFont typeface="Arial"/>
              <a:buChar char="•"/>
            </a:pPr>
            <a:r>
              <a:rPr sz="1800" b="1" i="0">
                <a:solidFill>
                  <a:srgbClr val="262626"/>
                </a:solidFill>
                <a:latin typeface="Calibri"/>
              </a:rPr>
              <a:t/>
            </a:r>
            <a:r>
              <a:rPr sz="1800" b="0" i="0">
                <a:solidFill>
                  <a:srgbClr val="262626"/>
                </a:solidFill>
                <a:latin typeface="Calibri"/>
              </a:rPr>
              <a:t>Δίκαιη σύγκριση με ένα συμβατικό, προκαθορισμένο pipeline</a:t>
            </a:r>
          </a:p>
        </p:txBody>
      </p:sp>
      <p:sp>
        <p:nvSpPr>
          <p:cNvPr id="12" name="TextBox 11"/>
          <p:cNvSpPr txBox="1"/>
          <p:nvPr/>
        </p:nvSpPr>
        <p:spPr>
          <a:xfrm>
            <a:off x="6355080" y="3438144"/>
            <a:ext cx="5212080" cy="571500"/>
          </a:xfrm>
          <a:prstGeom prst="rect">
            <a:avLst/>
          </a:prstGeom>
          <a:noFill/>
        </p:spPr>
        <p:txBody>
          <a:bodyPr wrap="square" anchor="t" lIns="0" rIns="0" tIns="0" bIns="0">
            <a:spAutoFit/>
          </a:bodyPr>
          <a:lstStyle/>
          <a:p>
            <a:pPr algn="l" marL="256032" indent="-256032">
              <a:spcAft>
                <a:spcPts val="0"/>
              </a:spcAft>
              <a:buFont typeface="Arial"/>
              <a:buChar char="•"/>
            </a:pPr>
            <a:r>
              <a:rPr sz="1800" b="1" i="0">
                <a:solidFill>
                  <a:srgbClr val="262626"/>
                </a:solidFill>
                <a:latin typeface="Calibri"/>
              </a:rPr>
              <a:t/>
            </a:r>
            <a:r>
              <a:rPr sz="1800" b="0" i="0">
                <a:solidFill>
                  <a:srgbClr val="262626"/>
                </a:solidFill>
                <a:latin typeface="Calibri"/>
              </a:rPr>
              <a:t>Αξιολόγηση σε τρεις άξονες: ποιότητα δεδομένων, προβλεπτική απόδοση, υπολογιστικό κόστος</a:t>
            </a:r>
          </a:p>
        </p:txBody>
      </p:sp>
      <p:sp>
        <p:nvSpPr>
          <p:cNvPr id="13" name="Rectangle 12"/>
          <p:cNvSpPr/>
          <p:nvPr/>
        </p:nvSpPr>
        <p:spPr>
          <a:xfrm>
            <a:off x="640080" y="4983480"/>
            <a:ext cx="10927080" cy="86868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600"/>
              </a:spcAft>
              <a:buNone/>
            </a:pPr>
            <a:r>
              <a:rPr sz="2000" b="0" i="1">
                <a:solidFill>
                  <a:srgbClr val="1F3864"/>
                </a:solidFill>
                <a:latin typeface="Cambria"/>
              </a:rPr>
              <a:t>Μπορεί ένας Agent να προετοιμάζει μόνος του τα δεδομένα, και αξίζει το κόστος;</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 fill="hold">
                      <p:stCondLst>
                        <p:cond delay="indefinite"/>
                      </p:stCondLst>
                      <p:childTnLst>
                        <p:par>
                          <p:cTn id="15" fill="hold">
                            <p:stCondLst>
                              <p:cond delay="0"/>
                            </p:stCondLst>
                            <p:childTnLst>
                              <p:par>
                                <p:cTn id="4" presetID="10"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3" dur="500"/>
                                        <p:tgtEl>
                                          <p:spTgt spid="5"/>
                                        </p:tgtEl>
                                      </p:cBhvr>
                                    </p:animEffect>
                                  </p:childTnLst>
                                </p:cTn>
                              </p:par>
                              <p:par>
                                <p:cTn id="7" presetID="10" presetClass="entr" presetSubtype="0" fill="hold" nodeType="withEffect">
                                  <p:stCondLst>
                                    <p:cond delay="350"/>
                                  </p:stCondLst>
                                  <p:childTnLst>
                                    <p:set>
                                      <p:cBhvr>
                                        <p:cTn id="8"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par>
                                <p:cTn id="10" presetID="10" presetClass="entr" presetSubtype="0" fill="hold" nodeType="withEffect">
                                  <p:stCondLst>
                                    <p:cond delay="700"/>
                                  </p:stCondLst>
                                  <p:childTnLst>
                                    <p:set>
                                      <p:cBhvr>
                                        <p:cTn id="11"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par>
                                <p:cTn id="13" presetID="10" presetClass="entr" presetSubtype="0" fill="hold" nodeType="withEffect">
                                  <p:stCondLst>
                                    <p:cond delay="1050"/>
                                  </p:stCondLst>
                                  <p:childTnLst>
                                    <p:set>
                                      <p:cBhvr>
                                        <p:cTn id="14"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30" fill="hold">
                      <p:stCondLst>
                        <p:cond delay="indefinite"/>
                      </p:stCondLst>
                      <p:childTnLst>
                        <p:par>
                          <p:cTn id="29"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21" presetID="10" presetClass="entr" presetSubtype="0" fill="hold" nodeType="withEffect">
                                  <p:stCondLst>
                                    <p:cond delay="350"/>
                                  </p:stCondLst>
                                  <p:childTnLst>
                                    <p:set>
                                      <p:cBhvr>
                                        <p:cTn id="22"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4" presetID="10" presetClass="entr" presetSubtype="0" fill="hold" nodeType="withEffect">
                                  <p:stCondLst>
                                    <p:cond delay="7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7" presetID="10" presetClass="entr" presetSubtype="0" fill="hold" nodeType="withEffect">
                                  <p:stCondLst>
                                    <p:cond delay="1050"/>
                                  </p:stCondLst>
                                  <p:childTnLst>
                                    <p:set>
                                      <p:cBhvr>
                                        <p:cTn id="28"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36"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731520"/>
          </a:xfrm>
          <a:prstGeom prst="rect">
            <a:avLst/>
          </a:prstGeom>
          <a:noFill/>
        </p:spPr>
        <p:txBody>
          <a:bodyPr wrap="square" anchor="ctr" lIns="0" rIns="0" tIns="0" bIns="0">
            <a:spAutoFit/>
          </a:bodyPr>
          <a:lstStyle/>
          <a:p>
            <a:pPr algn="l">
              <a:spcAft>
                <a:spcPts val="600"/>
              </a:spcAft>
              <a:buNone/>
            </a:pPr>
            <a:r>
              <a:rPr sz="3200" b="1" i="0">
                <a:solidFill>
                  <a:srgbClr val="1F3864"/>
                </a:solidFill>
                <a:latin typeface="Cambria"/>
              </a:rPr>
              <a:t>Ερευνητικά ερωτήματα</a:t>
            </a:r>
          </a:p>
        </p:txBody>
      </p:sp>
      <p:sp>
        <p:nvSpPr>
          <p:cNvPr id="3" name="TextBox 2"/>
          <p:cNvSpPr txBox="1"/>
          <p:nvPr/>
        </p:nvSpPr>
        <p:spPr>
          <a:xfrm>
            <a:off x="640080" y="6355080"/>
            <a:ext cx="9601200" cy="274320"/>
          </a:xfrm>
          <a:prstGeom prst="rect">
            <a:avLst/>
          </a:prstGeom>
          <a:noFill/>
        </p:spPr>
        <p:txBody>
          <a:bodyPr wrap="square" anchor="t" lIns="0" rIns="0" tIns="0" bIns="0">
            <a:spAutoFit/>
          </a:bodyPr>
          <a:lstStyle/>
          <a:p>
            <a:pPr algn="l">
              <a:spcAft>
                <a:spcPts val="600"/>
              </a:spcAft>
              <a:buNone/>
            </a:pPr>
            <a:r>
              <a:rPr sz="1000" b="0" i="0">
                <a:solidFill>
                  <a:srgbClr val="6B6B6B"/>
                </a:solidFill>
                <a:latin typeface="Calibri"/>
              </a:rPr>
              <a:t>Γαληρόπουλος Θεοδόσιος  ·  Agentic AI για αυτοματοποιημένη διαχείριση ποιότητας δεδομένων</a:t>
            </a:r>
          </a:p>
        </p:txBody>
      </p:sp>
      <p:sp>
        <p:nvSpPr>
          <p:cNvPr id="4" name="TextBox 3"/>
          <p:cNvSpPr txBox="1"/>
          <p:nvPr/>
        </p:nvSpPr>
        <p:spPr>
          <a:xfrm>
            <a:off x="10607040" y="6355080"/>
            <a:ext cx="914400" cy="274320"/>
          </a:xfrm>
          <a:prstGeom prst="rect">
            <a:avLst/>
          </a:prstGeom>
          <a:noFill/>
        </p:spPr>
        <p:txBody>
          <a:bodyPr wrap="square" anchor="t" lIns="0" rIns="0" tIns="0" bIns="0">
            <a:spAutoFit/>
          </a:bodyPr>
          <a:lstStyle/>
          <a:p>
            <a:pPr algn="r">
              <a:spcAft>
                <a:spcPts val="600"/>
              </a:spcAft>
              <a:buNone/>
            </a:pPr>
            <a:r>
              <a:rPr sz="1000" b="0" i="0">
                <a:solidFill>
                  <a:srgbClr val="6B6B6B"/>
                </a:solidFill>
                <a:latin typeface="Calibri"/>
              </a:rPr>
              <a:t>3 / 10</a:t>
            </a:r>
          </a:p>
        </p:txBody>
      </p:sp>
      <p:sp>
        <p:nvSpPr>
          <p:cNvPr id="5" name="Rectangle 4"/>
          <p:cNvSpPr/>
          <p:nvPr/>
        </p:nvSpPr>
        <p:spPr>
          <a:xfrm>
            <a:off x="640080" y="1463040"/>
            <a:ext cx="5212080" cy="34290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691640"/>
            <a:ext cx="4572000" cy="502920"/>
          </a:xfrm>
          <a:prstGeom prst="rect">
            <a:avLst/>
          </a:prstGeom>
          <a:noFill/>
        </p:spPr>
        <p:txBody>
          <a:bodyPr wrap="square" anchor="t" lIns="0" rIns="0" tIns="0" bIns="0">
            <a:spAutoFit/>
          </a:bodyPr>
          <a:lstStyle/>
          <a:p>
            <a:pPr algn="l">
              <a:spcAft>
                <a:spcPts val="600"/>
              </a:spcAft>
              <a:buNone/>
            </a:pPr>
            <a:r>
              <a:rPr sz="2200" b="1" i="0">
                <a:solidFill>
                  <a:srgbClr val="1F3864"/>
                </a:solidFill>
                <a:latin typeface="Cambria"/>
              </a:rPr>
              <a:t>ΕΕ1 · Προβλεπτική απόδοση</a:t>
            </a:r>
          </a:p>
        </p:txBody>
      </p:sp>
      <p:sp>
        <p:nvSpPr>
          <p:cNvPr id="7" name="TextBox 6"/>
          <p:cNvSpPr txBox="1"/>
          <p:nvPr/>
        </p:nvSpPr>
        <p:spPr>
          <a:xfrm>
            <a:off x="960119" y="2377440"/>
            <a:ext cx="4572000" cy="2377440"/>
          </a:xfrm>
          <a:prstGeom prst="rect">
            <a:avLst/>
          </a:prstGeom>
          <a:noFill/>
        </p:spPr>
        <p:txBody>
          <a:bodyPr wrap="square" anchor="t" lIns="0" rIns="0" tIns="0" bIns="0">
            <a:spAutoFit/>
          </a:bodyPr>
          <a:lstStyle/>
          <a:p>
            <a:pPr algn="l" marL="256032" indent="-256032">
              <a:spcAft>
                <a:spcPts val="1200"/>
              </a:spcAft>
              <a:buFont typeface="Arial"/>
              <a:buChar char="•"/>
            </a:pPr>
            <a:r>
              <a:rPr sz="1700" b="0" i="0">
                <a:solidFill>
                  <a:srgbClr val="262626"/>
                </a:solidFill>
                <a:latin typeface="Calibri"/>
              </a:rPr>
              <a:t>Αποδίδουν καλύτερα τα μοντέλα όταν η προεπεξεργασία γίνεται από τον Agent αντί για συμβατικό pipeline;</a:t>
            </a:r>
          </a:p>
          <a:p>
            <a:pPr algn="l" marL="256032" indent="-256032">
              <a:spcAft>
                <a:spcPts val="1200"/>
              </a:spcAft>
              <a:buFont typeface="Arial"/>
              <a:buChar char="•"/>
            </a:pPr>
            <a:r>
              <a:rPr sz="1700" b="0" i="0">
                <a:solidFill>
                  <a:srgbClr val="262626"/>
                </a:solidFill>
                <a:latin typeface="Calibri"/>
              </a:rPr>
              <a:t>H₀: δεν υπάρχει διαφορά  ·  H₁: θετική μέση διαφορά στην PR-AUC</a:t>
            </a:r>
          </a:p>
          <a:p>
            <a:pPr algn="l" marL="256032" indent="-256032">
              <a:spcAft>
                <a:spcPts val="1200"/>
              </a:spcAft>
              <a:buFont typeface="Arial"/>
              <a:buChar char="•"/>
            </a:pPr>
            <a:r>
              <a:rPr sz="1700" b="0" i="0">
                <a:solidFill>
                  <a:srgbClr val="262626"/>
                </a:solidFill>
                <a:latin typeface="Calibri"/>
              </a:rPr>
              <a:t>Είναι η διαφορά στατιστικά σημαντική και πρακτικά σημαντική;</a:t>
            </a:r>
          </a:p>
        </p:txBody>
      </p:sp>
      <p:sp>
        <p:nvSpPr>
          <p:cNvPr id="8" name="Rectangle 7"/>
          <p:cNvSpPr/>
          <p:nvPr/>
        </p:nvSpPr>
        <p:spPr>
          <a:xfrm>
            <a:off x="6355080" y="1463040"/>
            <a:ext cx="5212080" cy="34290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691640"/>
            <a:ext cx="4572000" cy="502920"/>
          </a:xfrm>
          <a:prstGeom prst="rect">
            <a:avLst/>
          </a:prstGeom>
          <a:noFill/>
        </p:spPr>
        <p:txBody>
          <a:bodyPr wrap="square" anchor="t" lIns="0" rIns="0" tIns="0" bIns="0">
            <a:spAutoFit/>
          </a:bodyPr>
          <a:lstStyle/>
          <a:p>
            <a:pPr algn="l">
              <a:spcAft>
                <a:spcPts val="600"/>
              </a:spcAft>
              <a:buNone/>
            </a:pPr>
            <a:r>
              <a:rPr sz="2200" b="1" i="0">
                <a:solidFill>
                  <a:srgbClr val="1F3864"/>
                </a:solidFill>
                <a:latin typeface="Cambria"/>
              </a:rPr>
              <a:t>ΕΕ2 · Κόστος και όφελος</a:t>
            </a:r>
          </a:p>
        </p:txBody>
      </p:sp>
      <p:sp>
        <p:nvSpPr>
          <p:cNvPr id="10" name="TextBox 9"/>
          <p:cNvSpPr txBox="1"/>
          <p:nvPr/>
        </p:nvSpPr>
        <p:spPr>
          <a:xfrm>
            <a:off x="6675120" y="2377440"/>
            <a:ext cx="4572000" cy="2377440"/>
          </a:xfrm>
          <a:prstGeom prst="rect">
            <a:avLst/>
          </a:prstGeom>
          <a:noFill/>
        </p:spPr>
        <p:txBody>
          <a:bodyPr wrap="square" anchor="t" lIns="0" rIns="0" tIns="0" bIns="0">
            <a:spAutoFit/>
          </a:bodyPr>
          <a:lstStyle/>
          <a:p>
            <a:pPr algn="l" marL="256032" indent="-256032">
              <a:spcAft>
                <a:spcPts val="1200"/>
              </a:spcAft>
              <a:buFont typeface="Arial"/>
              <a:buChar char="•"/>
            </a:pPr>
            <a:r>
              <a:rPr sz="1700" b="0" i="0">
                <a:solidFill>
                  <a:srgbClr val="262626"/>
                </a:solidFill>
                <a:latin typeface="Calibri"/>
              </a:rPr>
              <a:t>Δικαιολογείται το πρόσθετο υπολογιστικό κόστος του Agent από το αποτέλεσμα;</a:t>
            </a:r>
          </a:p>
          <a:p>
            <a:pPr algn="l" marL="256032" indent="-256032">
              <a:spcAft>
                <a:spcPts val="1200"/>
              </a:spcAft>
              <a:buFont typeface="Arial"/>
              <a:buChar char="•"/>
            </a:pPr>
            <a:r>
              <a:rPr sz="1700" b="0" i="0">
                <a:solidFill>
                  <a:srgbClr val="262626"/>
                </a:solidFill>
                <a:latin typeface="Calibri"/>
              </a:rPr>
              <a:t>Χρόνος εκτέλεσης, μνήμη, κλήσεις και tokens του LLM, αριθμός επαναλήψεων</a:t>
            </a:r>
          </a:p>
          <a:p>
            <a:pPr algn="l" marL="256032" indent="-256032">
              <a:spcAft>
                <a:spcPts val="1200"/>
              </a:spcAft>
              <a:buFont typeface="Arial"/>
              <a:buChar char="•"/>
            </a:pPr>
            <a:r>
              <a:rPr sz="1700" b="0" i="0">
                <a:solidFill>
                  <a:srgbClr val="262626"/>
                </a:solidFill>
                <a:latin typeface="Calibri"/>
              </a:rPr>
              <a:t>Χωρίς συγκεκριμένη υπόθεση: εξετάζεται η σχέση κόστους και οφέλους</a:t>
            </a:r>
          </a:p>
        </p:txBody>
      </p:sp>
      <p:sp>
        <p:nvSpPr>
          <p:cNvPr id="11" name="TextBox 10"/>
          <p:cNvSpPr txBox="1"/>
          <p:nvPr/>
        </p:nvSpPr>
        <p:spPr>
          <a:xfrm>
            <a:off x="640080" y="5257800"/>
            <a:ext cx="10927080" cy="548640"/>
          </a:xfrm>
          <a:prstGeom prst="rect">
            <a:avLst/>
          </a:prstGeom>
          <a:noFill/>
        </p:spPr>
        <p:txBody>
          <a:bodyPr wrap="square" anchor="t" lIns="0" rIns="0" tIns="0" bIns="0">
            <a:spAutoFit/>
          </a:bodyPr>
          <a:lstStyle/>
          <a:p>
            <a:pPr algn="ctr">
              <a:spcAft>
                <a:spcPts val="600"/>
              </a:spcAft>
              <a:buNone/>
            </a:pPr>
            <a:r>
              <a:rPr sz="1600" b="0" i="1">
                <a:solidFill>
                  <a:srgbClr val="6B6B6B"/>
                </a:solidFill>
                <a:latin typeface="Calibri"/>
              </a:rPr>
              <a:t>Ένα αρνητικό αποτέλεσμα, δηλαδή καμία βελτίωση ή δυσανάλογο κόστος, θεωρείται εξίσου σημαντικό εύρημα</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 fill="hold">
                      <p:stCondLst>
                        <p:cond delay="indefinite"/>
                      </p:stCondLst>
                      <p:childTnLst>
                        <p:par>
                          <p:cTn id="15"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3" dur="500"/>
                                        <p:tgtEl>
                                          <p:spTgt spid="5"/>
                                        </p:tgtEl>
                                      </p:cBhvr>
                                    </p:animEffect>
                                    <p:anim calcmode="lin" valueType="num">
                                      <p:cBhvr>
                                        <p:cTn id="4" dur="500" fill="hold"/>
                                        <p:tgtEl>
                                          <p:spTgt spid="5"/>
                                        </p:tgtEl>
                                        <p:attrNameLst>
                                          <p:attrName>ppt_y</p:attrName>
                                        </p:attrNameLst>
                                      </p:cBhvr>
                                      <p:tavLst>
                                        <p:tav tm="0">
                                          <p:val>
                                            <p:strVal val="#ppt_y+0.05"/>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ppt_y</p:attrName>
                                        </p:attrNameLst>
                                      </p:cBhvr>
                                      <p:tavLst>
                                        <p:tav tm="0">
                                          <p:val>
                                            <p:strVal val="#ppt_y+0.05"/>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ppt_y</p:attrName>
                                        </p:attrNameLst>
                                      </p:cBhvr>
                                      <p:tavLst>
                                        <p:tav tm="0">
                                          <p:val>
                                            <p:strVal val="#ppt_y+0.05"/>
                                          </p:val>
                                        </p:tav>
                                        <p:tav tm="100000">
                                          <p:val>
                                            <p:strVal val="#ppt_y"/>
                                          </p:val>
                                        </p:tav>
                                      </p:tavLst>
                                    </p:anim>
                                  </p:childTnLst>
                                </p:cTn>
                              </p:par>
                            </p:childTnLst>
                          </p:cTn>
                        </p:par>
                      </p:childTnLst>
                    </p:cTn>
                  </p:par>
                  <p:par>
                    <p:cTn id="30" fill="hold">
                      <p:stCondLst>
                        <p:cond delay="indefinite"/>
                      </p:stCondLst>
                      <p:childTnLst>
                        <p:par>
                          <p:cTn id="29"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anim calcmode="lin" valueType="num">
                                      <p:cBhvr>
                                        <p:cTn id="18" dur="500" fill="hold"/>
                                        <p:tgtEl>
                                          <p:spTgt spid="8"/>
                                        </p:tgtEl>
                                        <p:attrNameLst>
                                          <p:attrName>ppt_y</p:attrName>
                                        </p:attrNameLst>
                                      </p:cBhvr>
                                      <p:tavLst>
                                        <p:tav tm="0">
                                          <p:val>
                                            <p:strVal val="#ppt_y+0.05"/>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anim calcmode="lin" valueType="num">
                                      <p:cBhvr>
                                        <p:cTn id="22" dur="500" fill="hold"/>
                                        <p:tgtEl>
                                          <p:spTgt spid="9"/>
                                        </p:tgtEl>
                                        <p:attrNameLst>
                                          <p:attrName>ppt_y</p:attrName>
                                        </p:attrNameLst>
                                      </p:cBhvr>
                                      <p:tavLst>
                                        <p:tav tm="0">
                                          <p:val>
                                            <p:strVal val="#ppt_y+0.05"/>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ppt_y</p:attrName>
                                        </p:attrNameLst>
                                      </p:cBhvr>
                                      <p:tavLst>
                                        <p:tav tm="0">
                                          <p:val>
                                            <p:strVal val="#ppt_y+0.05"/>
                                          </p:val>
                                        </p:tav>
                                        <p:tav tm="100000">
                                          <p:val>
                                            <p:strVal val="#ppt_y"/>
                                          </p:val>
                                        </p:tav>
                                      </p:tavLst>
                                    </p:anim>
                                  </p:childTnLst>
                                </p:cTn>
                              </p:par>
                            </p:childTnLst>
                          </p:cTn>
                        </p:par>
                      </p:childTnLst>
                    </p:cTn>
                  </p:par>
                  <p:par>
                    <p:cTn id="35" fill="hold">
                      <p:stCondLst>
                        <p:cond delay="indefinite"/>
                      </p:stCondLst>
                      <p:childTnLst>
                        <p:par>
                          <p:cTn id="34"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731520"/>
          </a:xfrm>
          <a:prstGeom prst="rect">
            <a:avLst/>
          </a:prstGeom>
          <a:noFill/>
        </p:spPr>
        <p:txBody>
          <a:bodyPr wrap="square" anchor="ctr" lIns="0" rIns="0" tIns="0" bIns="0">
            <a:spAutoFit/>
          </a:bodyPr>
          <a:lstStyle/>
          <a:p>
            <a:pPr algn="l">
              <a:spcAft>
                <a:spcPts val="600"/>
              </a:spcAft>
              <a:buNone/>
            </a:pPr>
            <a:r>
              <a:rPr sz="3200" b="1" i="0">
                <a:solidFill>
                  <a:srgbClr val="1F3864"/>
                </a:solidFill>
                <a:latin typeface="Cambria"/>
              </a:rPr>
              <a:t>Δεδομένα: PaySim</a:t>
            </a:r>
          </a:p>
        </p:txBody>
      </p:sp>
      <p:sp>
        <p:nvSpPr>
          <p:cNvPr id="3" name="TextBox 2"/>
          <p:cNvSpPr txBox="1"/>
          <p:nvPr/>
        </p:nvSpPr>
        <p:spPr>
          <a:xfrm>
            <a:off x="640080" y="6355080"/>
            <a:ext cx="9601200" cy="274320"/>
          </a:xfrm>
          <a:prstGeom prst="rect">
            <a:avLst/>
          </a:prstGeom>
          <a:noFill/>
        </p:spPr>
        <p:txBody>
          <a:bodyPr wrap="square" anchor="t" lIns="0" rIns="0" tIns="0" bIns="0">
            <a:spAutoFit/>
          </a:bodyPr>
          <a:lstStyle/>
          <a:p>
            <a:pPr algn="l">
              <a:spcAft>
                <a:spcPts val="600"/>
              </a:spcAft>
              <a:buNone/>
            </a:pPr>
            <a:r>
              <a:rPr sz="1000" b="0" i="0">
                <a:solidFill>
                  <a:srgbClr val="6B6B6B"/>
                </a:solidFill>
                <a:latin typeface="Calibri"/>
              </a:rPr>
              <a:t>Γαληρόπουλος Θεοδόσιος  ·  Agentic AI για αυτοματοποιημένη διαχείριση ποιότητας δεδομένων</a:t>
            </a:r>
          </a:p>
        </p:txBody>
      </p:sp>
      <p:sp>
        <p:nvSpPr>
          <p:cNvPr id="4" name="TextBox 3"/>
          <p:cNvSpPr txBox="1"/>
          <p:nvPr/>
        </p:nvSpPr>
        <p:spPr>
          <a:xfrm>
            <a:off x="10607040" y="6355080"/>
            <a:ext cx="914400" cy="274320"/>
          </a:xfrm>
          <a:prstGeom prst="rect">
            <a:avLst/>
          </a:prstGeom>
          <a:noFill/>
        </p:spPr>
        <p:txBody>
          <a:bodyPr wrap="square" anchor="t" lIns="0" rIns="0" tIns="0" bIns="0">
            <a:spAutoFit/>
          </a:bodyPr>
          <a:lstStyle/>
          <a:p>
            <a:pPr algn="r">
              <a:spcAft>
                <a:spcPts val="600"/>
              </a:spcAft>
              <a:buNone/>
            </a:pPr>
            <a:r>
              <a:rPr sz="1000" b="0" i="0">
                <a:solidFill>
                  <a:srgbClr val="6B6B6B"/>
                </a:solidFill>
                <a:latin typeface="Calibri"/>
              </a:rPr>
              <a:t>4 / 10</a:t>
            </a:r>
          </a:p>
        </p:txBody>
      </p:sp>
      <p:sp>
        <p:nvSpPr>
          <p:cNvPr id="5" name="Rectangle 4"/>
          <p:cNvSpPr/>
          <p:nvPr/>
        </p:nvSpPr>
        <p:spPr>
          <a:xfrm>
            <a:off x="640080" y="1463040"/>
            <a:ext cx="2514600" cy="16916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buNone/>
            </a:pPr>
            <a:r>
              <a:rPr sz="3400" b="1" i="0">
                <a:solidFill>
                  <a:srgbClr val="1F3864"/>
                </a:solidFill>
                <a:latin typeface="Cambria"/>
              </a:rPr>
              <a:t>6.362.620</a:t>
            </a:r>
          </a:p>
          <a:p>
            <a:pPr algn="ctr">
              <a:spcAft>
                <a:spcPts val="0"/>
              </a:spcAft>
              <a:buNone/>
            </a:pPr>
            <a:r>
              <a:rPr sz="1400" b="0" i="0">
                <a:solidFill>
                  <a:srgbClr val="262626"/>
                </a:solidFill>
                <a:latin typeface="Calibri"/>
              </a:rPr>
              <a:t>συναλλαγές συνολικά</a:t>
            </a:r>
          </a:p>
        </p:txBody>
      </p:sp>
      <p:sp>
        <p:nvSpPr>
          <p:cNvPr id="6" name="Rectangle 5"/>
          <p:cNvSpPr/>
          <p:nvPr/>
        </p:nvSpPr>
        <p:spPr>
          <a:xfrm>
            <a:off x="3429000" y="1463040"/>
            <a:ext cx="2514600" cy="16916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buNone/>
            </a:pPr>
            <a:r>
              <a:rPr sz="3400" b="1" i="0">
                <a:solidFill>
                  <a:srgbClr val="1F3864"/>
                </a:solidFill>
                <a:latin typeface="Cambria"/>
              </a:rPr>
              <a:t>0,129%</a:t>
            </a:r>
          </a:p>
          <a:p>
            <a:pPr algn="ctr">
              <a:spcAft>
                <a:spcPts val="0"/>
              </a:spcAft>
              <a:buNone/>
            </a:pPr>
            <a:r>
              <a:rPr sz="1400" b="0" i="0">
                <a:solidFill>
                  <a:srgbClr val="262626"/>
                </a:solidFill>
                <a:latin typeface="Calibri"/>
              </a:rPr>
              <a:t>ποσοστό απάτης</a:t>
            </a:r>
          </a:p>
        </p:txBody>
      </p:sp>
      <p:sp>
        <p:nvSpPr>
          <p:cNvPr id="7" name="Rectangle 6"/>
          <p:cNvSpPr/>
          <p:nvPr/>
        </p:nvSpPr>
        <p:spPr>
          <a:xfrm>
            <a:off x="6217920" y="1463040"/>
            <a:ext cx="2514600" cy="16916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buNone/>
            </a:pPr>
            <a:r>
              <a:rPr sz="3400" b="1" i="0">
                <a:solidFill>
                  <a:srgbClr val="1F3864"/>
                </a:solidFill>
                <a:latin typeface="Cambria"/>
              </a:rPr>
              <a:t>72.149</a:t>
            </a:r>
          </a:p>
          <a:p>
            <a:pPr algn="ctr">
              <a:spcAft>
                <a:spcPts val="0"/>
              </a:spcAft>
              <a:buNone/>
            </a:pPr>
            <a:r>
              <a:rPr sz="1400" b="0" i="0">
                <a:solidFill>
                  <a:srgbClr val="262626"/>
                </a:solidFill>
                <a:latin typeface="Calibri"/>
              </a:rPr>
              <a:t>εγγραφές στο training sample</a:t>
            </a:r>
          </a:p>
        </p:txBody>
      </p:sp>
      <p:sp>
        <p:nvSpPr>
          <p:cNvPr id="8" name="Rectangle 7"/>
          <p:cNvSpPr/>
          <p:nvPr/>
        </p:nvSpPr>
        <p:spPr>
          <a:xfrm>
            <a:off x="9006839" y="1463040"/>
            <a:ext cx="2514600" cy="16916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buNone/>
            </a:pPr>
            <a:r>
              <a:rPr sz="3400" b="1" i="0">
                <a:solidFill>
                  <a:srgbClr val="1F3864"/>
                </a:solidFill>
                <a:latin typeface="Cambria"/>
              </a:rPr>
              <a:t>5%</a:t>
            </a:r>
          </a:p>
          <a:p>
            <a:pPr algn="ctr">
              <a:spcAft>
                <a:spcPts val="0"/>
              </a:spcAft>
              <a:buNone/>
            </a:pPr>
            <a:r>
              <a:rPr sz="1400" b="0" i="0">
                <a:solidFill>
                  <a:srgbClr val="262626"/>
                </a:solidFill>
                <a:latin typeface="Calibri"/>
              </a:rPr>
              <a:t>ελλιπείς τιμές στη type (MCAR)</a:t>
            </a:r>
          </a:p>
        </p:txBody>
      </p:sp>
      <p:sp>
        <p:nvSpPr>
          <p:cNvPr id="9" name="TextBox 8"/>
          <p:cNvSpPr txBox="1"/>
          <p:nvPr/>
        </p:nvSpPr>
        <p:spPr>
          <a:xfrm>
            <a:off x="640080" y="3520440"/>
            <a:ext cx="10927080" cy="269875"/>
          </a:xfrm>
          <a:prstGeom prst="rect">
            <a:avLst/>
          </a:prstGeom>
          <a:noFill/>
        </p:spPr>
        <p:txBody>
          <a:bodyPr wrap="square" anchor="t" lIns="0" rIns="0" tIns="0" bIns="0">
            <a:spAutoFit/>
          </a:bodyPr>
          <a:lstStyle/>
          <a:p>
            <a:pPr algn="l" marL="256032" indent="-256032">
              <a:spcAft>
                <a:spcPts val="0"/>
              </a:spcAft>
              <a:buFont typeface="Arial"/>
              <a:buChar char="•"/>
            </a:pPr>
            <a:r>
              <a:rPr sz="1700" b="1" i="0">
                <a:solidFill>
                  <a:srgbClr val="262626"/>
                </a:solidFill>
                <a:latin typeface="Calibri"/>
              </a:rPr>
              <a:t>Χρονολογικός διαχωρισμός: </a:t>
            </a:r>
            <a:r>
              <a:rPr sz="1700" b="0" i="0">
                <a:solidFill>
                  <a:srgbClr val="262626"/>
                </a:solidFill>
                <a:latin typeface="Calibri"/>
              </a:rPr>
              <a:t>πρώτα 80% των βημάτων για training (6.239.040), τελευταία 20% για test (123.580)</a:t>
            </a:r>
          </a:p>
        </p:txBody>
      </p:sp>
      <p:sp>
        <p:nvSpPr>
          <p:cNvPr id="10" name="TextBox 9"/>
          <p:cNvSpPr txBox="1"/>
          <p:nvPr/>
        </p:nvSpPr>
        <p:spPr>
          <a:xfrm>
            <a:off x="640080" y="3973195"/>
            <a:ext cx="10927080" cy="269875"/>
          </a:xfrm>
          <a:prstGeom prst="rect">
            <a:avLst/>
          </a:prstGeom>
          <a:noFill/>
        </p:spPr>
        <p:txBody>
          <a:bodyPr wrap="square" anchor="t" lIns="0" rIns="0" tIns="0" bIns="0">
            <a:spAutoFit/>
          </a:bodyPr>
          <a:lstStyle/>
          <a:p>
            <a:pPr algn="l" marL="256032" indent="-256032">
              <a:spcAft>
                <a:spcPts val="0"/>
              </a:spcAft>
              <a:buFont typeface="Arial"/>
              <a:buChar char="•"/>
            </a:pPr>
            <a:r>
              <a:rPr sz="1700" b="1" i="0">
                <a:solidFill>
                  <a:srgbClr val="262626"/>
                </a:solidFill>
                <a:latin typeface="Calibri"/>
              </a:rPr>
              <a:t>Χαρακτηριστικά: </a:t>
            </a:r>
            <a:r>
              <a:rPr sz="1700" b="0" i="0">
                <a:solidFill>
                  <a:srgbClr val="262626"/>
                </a:solidFill>
                <a:latin typeface="Calibri"/>
              </a:rPr>
              <a:t>step, type, amount, hour, day, log_amount, is_merchant_destination · στόχος η isFraud</a:t>
            </a:r>
          </a:p>
        </p:txBody>
      </p:sp>
      <p:sp>
        <p:nvSpPr>
          <p:cNvPr id="11" name="TextBox 10"/>
          <p:cNvSpPr txBox="1"/>
          <p:nvPr/>
        </p:nvSpPr>
        <p:spPr>
          <a:xfrm>
            <a:off x="640080" y="4425950"/>
            <a:ext cx="10927080" cy="269875"/>
          </a:xfrm>
          <a:prstGeom prst="rect">
            <a:avLst/>
          </a:prstGeom>
          <a:noFill/>
        </p:spPr>
        <p:txBody>
          <a:bodyPr wrap="square" anchor="t" lIns="0" rIns="0" tIns="0" bIns="0">
            <a:spAutoFit/>
          </a:bodyPr>
          <a:lstStyle/>
          <a:p>
            <a:pPr algn="l" marL="256032" indent="-256032">
              <a:spcAft>
                <a:spcPts val="0"/>
              </a:spcAft>
              <a:buFont typeface="Arial"/>
              <a:buChar char="•"/>
            </a:pPr>
            <a:r>
              <a:rPr sz="1700" b="1" i="0">
                <a:solidFill>
                  <a:srgbClr val="262626"/>
                </a:solidFill>
                <a:latin typeface="Calibri"/>
              </a:rPr>
              <a:t>Αφαιρέθηκαν: </a:t>
            </a:r>
            <a:r>
              <a:rPr sz="1700" b="0" i="0">
                <a:solidFill>
                  <a:srgbClr val="262626"/>
                </a:solidFill>
                <a:latin typeface="Calibri"/>
              </a:rPr>
              <a:t>nameOrig, nameDest, isFlaggedFraud και τα balance fields, για αποφυγή διαρροής πληροφορίας</a:t>
            </a:r>
          </a:p>
        </p:txBody>
      </p:sp>
      <p:sp>
        <p:nvSpPr>
          <p:cNvPr id="12" name="TextBox 11"/>
          <p:cNvSpPr txBox="1"/>
          <p:nvPr/>
        </p:nvSpPr>
        <p:spPr>
          <a:xfrm>
            <a:off x="640080" y="4878705"/>
            <a:ext cx="10927080" cy="269875"/>
          </a:xfrm>
          <a:prstGeom prst="rect">
            <a:avLst/>
          </a:prstGeom>
          <a:noFill/>
        </p:spPr>
        <p:txBody>
          <a:bodyPr wrap="square" anchor="t" lIns="0" rIns="0" tIns="0" bIns="0">
            <a:spAutoFit/>
          </a:bodyPr>
          <a:lstStyle/>
          <a:p>
            <a:pPr algn="l" marL="256032" indent="-256032">
              <a:spcAft>
                <a:spcPts val="0"/>
              </a:spcAft>
              <a:buFont typeface="Arial"/>
              <a:buChar char="•"/>
            </a:pPr>
            <a:r>
              <a:rPr sz="1700" b="1" i="0">
                <a:solidFill>
                  <a:srgbClr val="262626"/>
                </a:solidFill>
                <a:latin typeface="Calibri"/>
              </a:rPr>
              <a:t>Ελεγχόμενη αλλοίωση: </a:t>
            </a:r>
            <a:r>
              <a:rPr sz="1700" b="0" i="0">
                <a:solidFill>
                  <a:srgbClr val="262626"/>
                </a:solidFill>
                <a:latin typeface="Calibri"/>
              </a:rPr>
              <a:t>3.607 εγγραφές χωρίς type, μόνο σε αντίγραφο του training sample (seed 42)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stCondLst>
                      <p:childTnLst>
                        <p:par>
                          <p:cTn id="19"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3" dur="500"/>
                                        <p:tgtEl>
                                          <p:spTgt spid="5"/>
                                        </p:tgtEl>
                                      </p:cBhvr>
                                    </p:animEffect>
                                    <p:anim calcmode="lin" valueType="num">
                                      <p:cBhvr>
                                        <p:cTn id="4" dur="500" fill="hold"/>
                                        <p:tgtEl>
                                          <p:spTgt spid="5"/>
                                        </p:tgtEl>
                                        <p:attrNameLst>
                                          <p:attrName>ppt_y</p:attrName>
                                        </p:attrNameLst>
                                      </p:cBhvr>
                                      <p:tavLst>
                                        <p:tav tm="0">
                                          <p:val>
                                            <p:strVal val="#ppt_y+0.05"/>
                                          </p:val>
                                        </p:tav>
                                        <p:tav tm="100000">
                                          <p:val>
                                            <p:strVal val="#ppt_y"/>
                                          </p:val>
                                        </p:tav>
                                      </p:tavLst>
                                    </p:anim>
                                  </p:childTnLst>
                                </p:cTn>
                              </p:par>
                              <p:par>
                                <p:cTn id="9" presetID="42" presetClass="entr" presetSubtype="0" fill="hold" nodeType="withEffect">
                                  <p:stCondLst>
                                    <p:cond delay="250"/>
                                  </p:stCondLst>
                                  <p:childTnLst>
                                    <p:set>
                                      <p:cBhvr>
                                        <p:cTn id="10"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ppt_y</p:attrName>
                                        </p:attrNameLst>
                                      </p:cBhvr>
                                      <p:tavLst>
                                        <p:tav tm="0">
                                          <p:val>
                                            <p:strVal val="#ppt_y+0.05"/>
                                          </p:val>
                                        </p:tav>
                                        <p:tav tm="100000">
                                          <p:val>
                                            <p:strVal val="#ppt_y"/>
                                          </p:val>
                                        </p:tav>
                                      </p:tavLst>
                                    </p:anim>
                                  </p:childTnLst>
                                </p:cTn>
                              </p:par>
                              <p:par>
                                <p:cTn id="13" presetID="42" presetClass="entr" presetSubtype="0"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ppt_y</p:attrName>
                                        </p:attrNameLst>
                                      </p:cBhvr>
                                      <p:tavLst>
                                        <p:tav tm="0">
                                          <p:val>
                                            <p:strVal val="#ppt_y+0.05"/>
                                          </p:val>
                                        </p:tav>
                                        <p:tav tm="100000">
                                          <p:val>
                                            <p:strVal val="#ppt_y"/>
                                          </p:val>
                                        </p:tav>
                                      </p:tavLst>
                                    </p:anim>
                                  </p:childTnLst>
                                </p:cTn>
                              </p:par>
                              <p:par>
                                <p:cTn id="17" presetID="42" presetClass="entr" presetSubtype="0" fill="hold" nodeType="withEffect">
                                  <p:stCondLst>
                                    <p:cond delay="750"/>
                                  </p:stCondLst>
                                  <p:childTnLst>
                                    <p:set>
                                      <p:cBhvr>
                                        <p:cTn id="18"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anim calcmode="lin" valueType="num">
                                      <p:cBhvr>
                                        <p:cTn id="16" dur="500" fill="hold"/>
                                        <p:tgtEl>
                                          <p:spTgt spid="8"/>
                                        </p:tgtEl>
                                        <p:attrNameLst>
                                          <p:attrName>ppt_y</p:attrName>
                                        </p:attrNameLst>
                                      </p:cBhvr>
                                      <p:tavLst>
                                        <p:tav tm="0">
                                          <p:val>
                                            <p:strVal val="#ppt_y+0.05"/>
                                          </p:val>
                                        </p:tav>
                                        <p:tav tm="100000">
                                          <p:val>
                                            <p:strVal val="#ppt_y"/>
                                          </p:val>
                                        </p:tav>
                                      </p:tavLst>
                                    </p:anim>
                                  </p:childTnLst>
                                </p:cTn>
                              </p:par>
                            </p:childTnLst>
                          </p:cTn>
                        </p:par>
                      </p:childTnLst>
                    </p:cTn>
                  </p:par>
                  <p:par>
                    <p:cTn id="25" fill="hold">
                      <p:stCondLst>
                        <p:cond delay="indefinite"/>
                      </p:stCondLst>
                      <p:childTnLst>
                        <p:par>
                          <p:cTn id="24"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30" fill="hold">
                      <p:stCondLst>
                        <p:cond delay="indefinite"/>
                      </p:stCondLst>
                      <p:childTnLst>
                        <p:par>
                          <p:cTn id="29"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35" fill="hold">
                      <p:stCondLst>
                        <p:cond delay="indefinite"/>
                      </p:stCondLst>
                      <p:childTnLst>
                        <p:par>
                          <p:cTn id="34"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40" fill="hold">
                      <p:stCondLst>
                        <p:cond delay="indefinite"/>
                      </p:stCondLst>
                      <p:childTnLst>
                        <p:par>
                          <p:cTn id="39"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731520"/>
          </a:xfrm>
          <a:prstGeom prst="rect">
            <a:avLst/>
          </a:prstGeom>
          <a:noFill/>
        </p:spPr>
        <p:txBody>
          <a:bodyPr wrap="square" anchor="ctr" lIns="0" rIns="0" tIns="0" bIns="0">
            <a:spAutoFit/>
          </a:bodyPr>
          <a:lstStyle/>
          <a:p>
            <a:pPr algn="l">
              <a:spcAft>
                <a:spcPts val="600"/>
              </a:spcAft>
              <a:buNone/>
            </a:pPr>
            <a:r>
              <a:rPr sz="3200" b="1" i="0">
                <a:solidFill>
                  <a:srgbClr val="1F3864"/>
                </a:solidFill>
                <a:latin typeface="Cambria"/>
              </a:rPr>
              <a:t>Ερευνητικός σχεδιασμός</a:t>
            </a:r>
          </a:p>
        </p:txBody>
      </p:sp>
      <p:sp>
        <p:nvSpPr>
          <p:cNvPr id="3" name="TextBox 2"/>
          <p:cNvSpPr txBox="1"/>
          <p:nvPr/>
        </p:nvSpPr>
        <p:spPr>
          <a:xfrm>
            <a:off x="640080" y="6355080"/>
            <a:ext cx="9601200" cy="274320"/>
          </a:xfrm>
          <a:prstGeom prst="rect">
            <a:avLst/>
          </a:prstGeom>
          <a:noFill/>
        </p:spPr>
        <p:txBody>
          <a:bodyPr wrap="square" anchor="t" lIns="0" rIns="0" tIns="0" bIns="0">
            <a:spAutoFit/>
          </a:bodyPr>
          <a:lstStyle/>
          <a:p>
            <a:pPr algn="l">
              <a:spcAft>
                <a:spcPts val="600"/>
              </a:spcAft>
              <a:buNone/>
            </a:pPr>
            <a:r>
              <a:rPr sz="1000" b="0" i="0">
                <a:solidFill>
                  <a:srgbClr val="6B6B6B"/>
                </a:solidFill>
                <a:latin typeface="Calibri"/>
              </a:rPr>
              <a:t>Γαληρόπουλος Θεοδόσιος  ·  Agentic AI για αυτοματοποιημένη διαχείριση ποιότητας δεδομένων</a:t>
            </a:r>
          </a:p>
        </p:txBody>
      </p:sp>
      <p:sp>
        <p:nvSpPr>
          <p:cNvPr id="4" name="TextBox 3"/>
          <p:cNvSpPr txBox="1"/>
          <p:nvPr/>
        </p:nvSpPr>
        <p:spPr>
          <a:xfrm>
            <a:off x="10607040" y="6355080"/>
            <a:ext cx="914400" cy="274320"/>
          </a:xfrm>
          <a:prstGeom prst="rect">
            <a:avLst/>
          </a:prstGeom>
          <a:noFill/>
        </p:spPr>
        <p:txBody>
          <a:bodyPr wrap="square" anchor="t" lIns="0" rIns="0" tIns="0" bIns="0">
            <a:spAutoFit/>
          </a:bodyPr>
          <a:lstStyle/>
          <a:p>
            <a:pPr algn="r">
              <a:spcAft>
                <a:spcPts val="600"/>
              </a:spcAft>
              <a:buNone/>
            </a:pPr>
            <a:r>
              <a:rPr sz="1000" b="0" i="0">
                <a:solidFill>
                  <a:srgbClr val="6B6B6B"/>
                </a:solidFill>
                <a:latin typeface="Calibri"/>
              </a:rPr>
              <a:t>5 / 10</a:t>
            </a:r>
          </a:p>
        </p:txBody>
      </p:sp>
      <p:sp>
        <p:nvSpPr>
          <p:cNvPr id="5" name="TextBox 4"/>
          <p:cNvSpPr txBox="1"/>
          <p:nvPr/>
        </p:nvSpPr>
        <p:spPr>
          <a:xfrm>
            <a:off x="640080" y="1417320"/>
            <a:ext cx="4846320" cy="457200"/>
          </a:xfrm>
          <a:prstGeom prst="rect">
            <a:avLst/>
          </a:prstGeom>
          <a:noFill/>
        </p:spPr>
        <p:txBody>
          <a:bodyPr wrap="square" anchor="t" lIns="0" rIns="0" tIns="0" bIns="0">
            <a:spAutoFit/>
          </a:bodyPr>
          <a:lstStyle/>
          <a:p>
            <a:pPr algn="l">
              <a:spcAft>
                <a:spcPts val="600"/>
              </a:spcAft>
              <a:buNone/>
            </a:pPr>
            <a:r>
              <a:rPr sz="2200" b="1" i="0">
                <a:solidFill>
                  <a:srgbClr val="1F3864"/>
                </a:solidFill>
                <a:latin typeface="Cambria"/>
              </a:rPr>
              <a:t>Συμβατικό pipeline</a:t>
            </a:r>
          </a:p>
        </p:txBody>
      </p:sp>
      <p:sp>
        <p:nvSpPr>
          <p:cNvPr id="6" name="TextBox 5"/>
          <p:cNvSpPr txBox="1"/>
          <p:nvPr/>
        </p:nvSpPr>
        <p:spPr>
          <a:xfrm>
            <a:off x="640080" y="1965960"/>
            <a:ext cx="4846320" cy="2011680"/>
          </a:xfrm>
          <a:prstGeom prst="rect">
            <a:avLst/>
          </a:prstGeom>
          <a:noFill/>
        </p:spPr>
        <p:txBody>
          <a:bodyPr wrap="square" anchor="t" lIns="0" rIns="0" tIns="0" bIns="0">
            <a:spAutoFit/>
          </a:bodyPr>
          <a:lstStyle/>
          <a:p>
            <a:pPr algn="l" marL="256032" indent="-256032">
              <a:spcAft>
                <a:spcPts val="800"/>
              </a:spcAft>
              <a:buFont typeface="Arial"/>
              <a:buChar char="•"/>
            </a:pPr>
            <a:r>
              <a:rPr sz="1700" b="0" i="0">
                <a:solidFill>
                  <a:srgbClr val="262626"/>
                </a:solidFill>
                <a:latin typeface="Calibri"/>
              </a:rPr>
              <a:t>Προκαθορισμένα βήματα, ίδια σε όλα τα folds</a:t>
            </a:r>
          </a:p>
          <a:p>
            <a:pPr algn="l" marL="256032" indent="-256032">
              <a:spcAft>
                <a:spcPts val="800"/>
              </a:spcAft>
              <a:buFont typeface="Arial"/>
              <a:buChar char="•"/>
            </a:pPr>
            <a:r>
              <a:rPr sz="1700" b="0" i="0">
                <a:solidFill>
                  <a:srgbClr val="262626"/>
                </a:solidFill>
                <a:latin typeface="Calibri"/>
              </a:rPr>
              <a:t>One-hot encoding στη type</a:t>
            </a:r>
          </a:p>
          <a:p>
            <a:pPr algn="l" marL="256032" indent="-256032">
              <a:spcAft>
                <a:spcPts val="800"/>
              </a:spcAft>
              <a:buFont typeface="Arial"/>
              <a:buChar char="•"/>
            </a:pPr>
            <a:r>
              <a:rPr sz="1700" b="0" i="0">
                <a:solidFill>
                  <a:srgbClr val="262626"/>
                </a:solidFill>
                <a:latin typeface="Calibri"/>
              </a:rPr>
              <a:t>Standard scaling μόνο για Logistic Regression</a:t>
            </a:r>
          </a:p>
          <a:p>
            <a:pPr algn="l" marL="256032" indent="-256032">
              <a:spcAft>
                <a:spcPts val="800"/>
              </a:spcAft>
              <a:buFont typeface="Arial"/>
              <a:buChar char="•"/>
            </a:pPr>
            <a:r>
              <a:rPr sz="1700" b="0" i="0">
                <a:solidFill>
                  <a:srgbClr val="262626"/>
                </a:solidFill>
                <a:latin typeface="Calibri"/>
              </a:rPr>
              <a:t>Class weighting για την ανισορροπία</a:t>
            </a:r>
          </a:p>
        </p:txBody>
      </p:sp>
      <p:sp>
        <p:nvSpPr>
          <p:cNvPr id="7" name="TextBox 6"/>
          <p:cNvSpPr txBox="1"/>
          <p:nvPr/>
        </p:nvSpPr>
        <p:spPr>
          <a:xfrm>
            <a:off x="6720840" y="1417320"/>
            <a:ext cx="4846320" cy="457200"/>
          </a:xfrm>
          <a:prstGeom prst="rect">
            <a:avLst/>
          </a:prstGeom>
          <a:noFill/>
        </p:spPr>
        <p:txBody>
          <a:bodyPr wrap="square" anchor="t" lIns="0" rIns="0" tIns="0" bIns="0">
            <a:spAutoFit/>
          </a:bodyPr>
          <a:lstStyle/>
          <a:p>
            <a:pPr algn="l">
              <a:spcAft>
                <a:spcPts val="600"/>
              </a:spcAft>
              <a:buNone/>
            </a:pPr>
            <a:r>
              <a:rPr sz="2200" b="1" i="0">
                <a:solidFill>
                  <a:srgbClr val="1F3864"/>
                </a:solidFill>
                <a:latin typeface="Cambria"/>
              </a:rPr>
              <a:t>Agentic pipeline</a:t>
            </a:r>
          </a:p>
        </p:txBody>
      </p:sp>
      <p:sp>
        <p:nvSpPr>
          <p:cNvPr id="8" name="TextBox 7"/>
          <p:cNvSpPr txBox="1"/>
          <p:nvPr/>
        </p:nvSpPr>
        <p:spPr>
          <a:xfrm>
            <a:off x="6720840" y="1965960"/>
            <a:ext cx="4846320" cy="2011680"/>
          </a:xfrm>
          <a:prstGeom prst="rect">
            <a:avLst/>
          </a:prstGeom>
          <a:noFill/>
        </p:spPr>
        <p:txBody>
          <a:bodyPr wrap="square" anchor="t" lIns="0" rIns="0" tIns="0" bIns="0">
            <a:spAutoFit/>
          </a:bodyPr>
          <a:lstStyle/>
          <a:p>
            <a:pPr algn="l" marL="256032" indent="-256032">
              <a:spcAft>
                <a:spcPts val="800"/>
              </a:spcAft>
              <a:buFont typeface="Arial"/>
              <a:buChar char="•"/>
            </a:pPr>
            <a:r>
              <a:rPr sz="1700" b="0" i="0">
                <a:solidFill>
                  <a:srgbClr val="262626"/>
                </a:solidFill>
                <a:latin typeface="Calibri"/>
              </a:rPr>
              <a:t>Ο Agent διαβάζει το Data Quality Report</a:t>
            </a:r>
          </a:p>
          <a:p>
            <a:pPr algn="l" marL="256032" indent="-256032">
              <a:spcAft>
                <a:spcPts val="800"/>
              </a:spcAft>
              <a:buFont typeface="Arial"/>
              <a:buChar char="•"/>
            </a:pPr>
            <a:r>
              <a:rPr sz="1700" b="0" i="0">
                <a:solidFill>
                  <a:srgbClr val="262626"/>
                </a:solidFill>
                <a:latin typeface="Calibri"/>
              </a:rPr>
              <a:t>Προτείνει plan πάνω στο baseline</a:t>
            </a:r>
          </a:p>
          <a:p>
            <a:pPr algn="l" marL="256032" indent="-256032">
              <a:spcAft>
                <a:spcPts val="800"/>
              </a:spcAft>
              <a:buFont typeface="Arial"/>
              <a:buChar char="•"/>
            </a:pPr>
            <a:r>
              <a:rPr sz="1700" b="0" i="0">
                <a:solidFill>
                  <a:srgbClr val="262626"/>
                </a:solidFill>
                <a:latin typeface="Calibri"/>
              </a:rPr>
              <a:t>Αξιολογεί ποιότητα και απόδοση</a:t>
            </a:r>
          </a:p>
          <a:p>
            <a:pPr algn="l" marL="256032" indent="-256032">
              <a:spcAft>
                <a:spcPts val="800"/>
              </a:spcAft>
              <a:buFont typeface="Arial"/>
              <a:buChar char="•"/>
            </a:pPr>
            <a:r>
              <a:rPr sz="1700" b="0" i="0">
                <a:solidFill>
                  <a:srgbClr val="262626"/>
                </a:solidFill>
                <a:latin typeface="Calibri"/>
              </a:rPr>
              <a:t>Κρατά ή αναθεωρεί τη στρατηγική (έως 3 φορές)</a:t>
            </a:r>
          </a:p>
        </p:txBody>
      </p:sp>
      <p:sp>
        <p:nvSpPr>
          <p:cNvPr id="9" name="Oval 8"/>
          <p:cNvSpPr/>
          <p:nvPr/>
        </p:nvSpPr>
        <p:spPr>
          <a:xfrm>
            <a:off x="5760720" y="2331720"/>
            <a:ext cx="685800" cy="6858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buNone/>
            </a:pPr>
            <a:r>
              <a:rPr sz="1800" b="1" i="0">
                <a:solidFill>
                  <a:srgbClr val="FFFFFF"/>
                </a:solidFill>
                <a:latin typeface="Cambria"/>
              </a:rPr>
              <a:t>vs</a:t>
            </a:r>
          </a:p>
        </p:txBody>
      </p:sp>
      <p:sp>
        <p:nvSpPr>
          <p:cNvPr id="10" name="Rectangle 9"/>
          <p:cNvSpPr/>
          <p:nvPr/>
        </p:nvSpPr>
        <p:spPr>
          <a:xfrm>
            <a:off x="640080" y="4069080"/>
            <a:ext cx="10927080" cy="14173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600"/>
              </a:spcAft>
              <a:buNone/>
            </a:pPr>
            <a:r>
              <a:rPr sz="1700" b="1" i="0">
                <a:solidFill>
                  <a:srgbClr val="1F3864"/>
                </a:solidFill>
                <a:latin typeface="Calibri"/>
              </a:rPr>
              <a:t>Κοινές συνθήκες σύγκρισης</a:t>
            </a:r>
          </a:p>
          <a:p>
            <a:pPr algn="l">
              <a:spcAft>
                <a:spcPts val="400"/>
              </a:spcAft>
              <a:buNone/>
            </a:pPr>
            <a:r>
              <a:rPr sz="1600" b="0" i="0">
                <a:solidFill>
                  <a:srgbClr val="262626"/>
                </a:solidFill>
                <a:latin typeface="Calibri"/>
              </a:rPr>
              <a:t>Ίδια δεδομένα, ίδιο seed, ίδιο threshold 0,50  ·  Μοντέλα: Logistic Regression, Decision Tree, Random Forest</a:t>
            </a:r>
          </a:p>
          <a:p>
            <a:pPr algn="l">
              <a:spcAft>
                <a:spcPts val="0"/>
              </a:spcAft>
              <a:buNone/>
            </a:pPr>
            <a:r>
              <a:rPr sz="1600" b="0" i="0">
                <a:solidFill>
                  <a:srgbClr val="262626"/>
                </a:solidFill>
                <a:latin typeface="Calibri"/>
              </a:rPr>
              <a:t>25 κοινά folds (5×5 repeated stratified CV)  ·  Κύρια μετρική: PR-AUC  ·  Test set κλειδωμένο έως την τελική αξιολόγηση</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indefinite"/>
                      </p:stCondLst>
                      <p:childTnLst>
                        <p:par>
                          <p:cTn id="9" fill="hold">
                            <p:stCondLst>
                              <p:cond delay="0"/>
                            </p:stCondLst>
                            <p:childTnLst>
                              <p:par>
                                <p:cTn id="4" presetID="10"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3" dur="500"/>
                                        <p:tgtEl>
                                          <p:spTgt spid="5"/>
                                        </p:tgtEl>
                                      </p:cBhvr>
                                    </p:animEffect>
                                  </p:childTnLst>
                                </p:cTn>
                              </p:par>
                              <p:par>
                                <p:cTn id="7" presetID="10" presetClass="entr" presetSubtype="0" fill="hold" nodeType="withEffect">
                                  <p:stCondLst>
                                    <p:cond delay="250"/>
                                  </p:stCondLst>
                                  <p:childTnLst>
                                    <p:set>
                                      <p:cBhvr>
                                        <p:cTn id="8"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childTnLst>
                          </p:cTn>
                        </p:par>
                      </p:childTnLst>
                    </p:cTn>
                  </p:par>
                  <p:par>
                    <p:cTn id="22" fill="hold">
                      <p:stCondLst>
                        <p:cond delay="indefinite"/>
                      </p:stCondLst>
                      <p:childTnLst>
                        <p:par>
                          <p:cTn id="14"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21" fill="hold">
                            <p:stCondLst>
                              <p:cond delay="500"/>
                            </p:stCondLst>
                            <p:childTnLst>
                              <p:par>
                                <p:cTn id="16" presetID="10" presetClass="entr" presetSubtype="0"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9" presetID="10" presetClass="entr" presetSubtype="0" fill="hold" nodeType="withEffect">
                                  <p:stCondLst>
                                    <p:cond delay="250"/>
                                  </p:stCondLst>
                                  <p:childTnLst>
                                    <p:set>
                                      <p:cBhvr>
                                        <p:cTn id="20"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28" fill="hold">
                      <p:stCondLst>
                        <p:cond delay="indefinite"/>
                      </p:stCondLst>
                      <p:childTnLst>
                        <p:par>
                          <p:cTn id="27"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anim calcmode="lin" valueType="num">
                                      <p:cBhvr>
                                        <p:cTn id="24" dur="500" fill="hold"/>
                                        <p:tgtEl>
                                          <p:spTgt spid="10"/>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731520"/>
          </a:xfrm>
          <a:prstGeom prst="rect">
            <a:avLst/>
          </a:prstGeom>
          <a:noFill/>
        </p:spPr>
        <p:txBody>
          <a:bodyPr wrap="square" anchor="ctr" lIns="0" rIns="0" tIns="0" bIns="0">
            <a:spAutoFit/>
          </a:bodyPr>
          <a:lstStyle/>
          <a:p>
            <a:pPr algn="l">
              <a:spcAft>
                <a:spcPts val="600"/>
              </a:spcAft>
              <a:buNone/>
            </a:pPr>
            <a:r>
              <a:rPr sz="3200" b="1" i="0">
                <a:solidFill>
                  <a:srgbClr val="1F3864"/>
                </a:solidFill>
                <a:latin typeface="Cambria"/>
              </a:rPr>
              <a:t>Αρχιτεκτονική του Agent</a:t>
            </a:r>
          </a:p>
        </p:txBody>
      </p:sp>
      <p:sp>
        <p:nvSpPr>
          <p:cNvPr id="3" name="TextBox 2"/>
          <p:cNvSpPr txBox="1"/>
          <p:nvPr/>
        </p:nvSpPr>
        <p:spPr>
          <a:xfrm>
            <a:off x="640080" y="6355080"/>
            <a:ext cx="9601200" cy="274320"/>
          </a:xfrm>
          <a:prstGeom prst="rect">
            <a:avLst/>
          </a:prstGeom>
          <a:noFill/>
        </p:spPr>
        <p:txBody>
          <a:bodyPr wrap="square" anchor="t" lIns="0" rIns="0" tIns="0" bIns="0">
            <a:spAutoFit/>
          </a:bodyPr>
          <a:lstStyle/>
          <a:p>
            <a:pPr algn="l">
              <a:spcAft>
                <a:spcPts val="600"/>
              </a:spcAft>
              <a:buNone/>
            </a:pPr>
            <a:r>
              <a:rPr sz="1000" b="0" i="0">
                <a:solidFill>
                  <a:srgbClr val="6B6B6B"/>
                </a:solidFill>
                <a:latin typeface="Calibri"/>
              </a:rPr>
              <a:t>Γαληρόπουλος Θεοδόσιος  ·  Agentic AI για αυτοματοποιημένη διαχείριση ποιότητας δεδομένων</a:t>
            </a:r>
          </a:p>
        </p:txBody>
      </p:sp>
      <p:sp>
        <p:nvSpPr>
          <p:cNvPr id="4" name="TextBox 3"/>
          <p:cNvSpPr txBox="1"/>
          <p:nvPr/>
        </p:nvSpPr>
        <p:spPr>
          <a:xfrm>
            <a:off x="10607040" y="6355080"/>
            <a:ext cx="914400" cy="274320"/>
          </a:xfrm>
          <a:prstGeom prst="rect">
            <a:avLst/>
          </a:prstGeom>
          <a:noFill/>
        </p:spPr>
        <p:txBody>
          <a:bodyPr wrap="square" anchor="t" lIns="0" rIns="0" tIns="0" bIns="0">
            <a:spAutoFit/>
          </a:bodyPr>
          <a:lstStyle/>
          <a:p>
            <a:pPr algn="r">
              <a:spcAft>
                <a:spcPts val="600"/>
              </a:spcAft>
              <a:buNone/>
            </a:pPr>
            <a:r>
              <a:rPr sz="1000" b="0" i="0">
                <a:solidFill>
                  <a:srgbClr val="6B6B6B"/>
                </a:solidFill>
                <a:latin typeface="Calibri"/>
              </a:rPr>
              <a:t>6 / 10</a:t>
            </a:r>
          </a:p>
        </p:txBody>
      </p:sp>
      <p:sp>
        <p:nvSpPr>
          <p:cNvPr id="5" name="Rectangle 4"/>
          <p:cNvSpPr/>
          <p:nvPr/>
        </p:nvSpPr>
        <p:spPr>
          <a:xfrm>
            <a:off x="640080" y="1417320"/>
            <a:ext cx="1874519" cy="12344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buNone/>
            </a:pPr>
            <a:r>
              <a:rPr sz="1600" b="1" i="0">
                <a:solidFill>
                  <a:srgbClr val="1F3864"/>
                </a:solidFill>
                <a:latin typeface="Calibri"/>
              </a:rPr>
              <a:t>1</a:t>
            </a:r>
          </a:p>
          <a:p>
            <a:pPr algn="ctr">
              <a:spcAft>
                <a:spcPts val="0"/>
              </a:spcAft>
              <a:buNone/>
            </a:pPr>
            <a:r>
              <a:rPr sz="1500" b="0" i="0">
                <a:solidFill>
                  <a:srgbClr val="262626"/>
                </a:solidFill>
                <a:latin typeface="Calibri"/>
              </a:rPr>
              <a:t>Data Quality
Report</a:t>
            </a:r>
          </a:p>
        </p:txBody>
      </p:sp>
      <p:cxnSp>
        <p:nvCxnSpPr>
          <p:cNvPr id="6" name="Connector 5"/>
          <p:cNvCxnSpPr/>
          <p:nvPr/>
        </p:nvCxnSpPr>
        <p:spPr>
          <a:xfrm>
            <a:off x="2578608" y="2034540"/>
            <a:ext cx="260603" cy="0"/>
          </a:xfrm>
          <a:prstGeom prst="line">
            <a:avLst/>
          </a:prstGeom>
          <a:ln w="22225">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903220" y="1417320"/>
            <a:ext cx="1874519" cy="12344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buNone/>
            </a:pPr>
            <a:r>
              <a:rPr sz="1600" b="1" i="0">
                <a:solidFill>
                  <a:srgbClr val="1F3864"/>
                </a:solidFill>
                <a:latin typeface="Calibri"/>
              </a:rPr>
              <a:t>2</a:t>
            </a:r>
          </a:p>
          <a:p>
            <a:pPr algn="ctr">
              <a:spcAft>
                <a:spcPts val="0"/>
              </a:spcAft>
              <a:buNone/>
            </a:pPr>
            <a:r>
              <a:rPr sz="1500" b="0" i="0">
                <a:solidFill>
                  <a:srgbClr val="262626"/>
                </a:solidFill>
                <a:latin typeface="Calibri"/>
              </a:rPr>
              <a:t>LLM προτείνει
plan (JSON)</a:t>
            </a:r>
          </a:p>
        </p:txBody>
      </p:sp>
      <p:cxnSp>
        <p:nvCxnSpPr>
          <p:cNvPr id="8" name="Connector 7"/>
          <p:cNvCxnSpPr/>
          <p:nvPr/>
        </p:nvCxnSpPr>
        <p:spPr>
          <a:xfrm>
            <a:off x="4841748" y="2034540"/>
            <a:ext cx="260604" cy="0"/>
          </a:xfrm>
          <a:prstGeom prst="line">
            <a:avLst/>
          </a:prstGeom>
          <a:ln w="22225">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166359" y="1417320"/>
            <a:ext cx="1874519" cy="12344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buNone/>
            </a:pPr>
            <a:r>
              <a:rPr sz="1600" b="1" i="0">
                <a:solidFill>
                  <a:srgbClr val="1F3864"/>
                </a:solidFill>
                <a:latin typeface="Calibri"/>
              </a:rPr>
              <a:t>3</a:t>
            </a:r>
          </a:p>
          <a:p>
            <a:pPr algn="ctr">
              <a:spcAft>
                <a:spcPts val="0"/>
              </a:spcAft>
              <a:buNone/>
            </a:pPr>
            <a:r>
              <a:rPr sz="1500" b="0" i="0">
                <a:solidFill>
                  <a:srgbClr val="262626"/>
                </a:solidFill>
                <a:latin typeface="Calibri"/>
              </a:rPr>
              <a:t>Έλεγχος
(Pydantic, allowlist)</a:t>
            </a:r>
          </a:p>
        </p:txBody>
      </p:sp>
      <p:cxnSp>
        <p:nvCxnSpPr>
          <p:cNvPr id="10" name="Connector 9"/>
          <p:cNvCxnSpPr/>
          <p:nvPr/>
        </p:nvCxnSpPr>
        <p:spPr>
          <a:xfrm>
            <a:off x="7104888" y="2034540"/>
            <a:ext cx="260604" cy="0"/>
          </a:xfrm>
          <a:prstGeom prst="line">
            <a:avLst/>
          </a:prstGeom>
          <a:ln w="22225">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429499" y="1417320"/>
            <a:ext cx="1874519" cy="12344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buNone/>
            </a:pPr>
            <a:r>
              <a:rPr sz="1600" b="1" i="0">
                <a:solidFill>
                  <a:srgbClr val="1F3864"/>
                </a:solidFill>
                <a:latin typeface="Calibri"/>
              </a:rPr>
              <a:t>4</a:t>
            </a:r>
          </a:p>
          <a:p>
            <a:pPr algn="ctr">
              <a:spcAft>
                <a:spcPts val="0"/>
              </a:spcAft>
              <a:buNone/>
            </a:pPr>
            <a:r>
              <a:rPr sz="1500" b="0" i="0">
                <a:solidFill>
                  <a:srgbClr val="262626"/>
                </a:solidFill>
                <a:latin typeface="Calibri"/>
              </a:rPr>
              <a:t>Αξιολόγηση
ποιότητας και ML</a:t>
            </a:r>
          </a:p>
        </p:txBody>
      </p:sp>
      <p:cxnSp>
        <p:nvCxnSpPr>
          <p:cNvPr id="12" name="Connector 11"/>
          <p:cNvCxnSpPr/>
          <p:nvPr/>
        </p:nvCxnSpPr>
        <p:spPr>
          <a:xfrm>
            <a:off x="9368027" y="2034540"/>
            <a:ext cx="260604" cy="0"/>
          </a:xfrm>
          <a:prstGeom prst="line">
            <a:avLst/>
          </a:prstGeom>
          <a:ln w="22225">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692639" y="1417320"/>
            <a:ext cx="1874519" cy="12344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buNone/>
            </a:pPr>
            <a:r>
              <a:rPr sz="1600" b="1" i="0">
                <a:solidFill>
                  <a:srgbClr val="1F3864"/>
                </a:solidFill>
                <a:latin typeface="Calibri"/>
              </a:rPr>
              <a:t>5</a:t>
            </a:r>
          </a:p>
          <a:p>
            <a:pPr algn="ctr">
              <a:spcAft>
                <a:spcPts val="0"/>
              </a:spcAft>
              <a:buNone/>
            </a:pPr>
            <a:r>
              <a:rPr sz="1500" b="0" i="0">
                <a:solidFill>
                  <a:srgbClr val="262626"/>
                </a:solidFill>
                <a:latin typeface="Calibri"/>
              </a:rPr>
              <a:t>Απόφαση
ACCEPT / RETRY</a:t>
            </a:r>
          </a:p>
        </p:txBody>
      </p:sp>
      <p:cxnSp>
        <p:nvCxnSpPr>
          <p:cNvPr id="14" name="Connector 13"/>
          <p:cNvCxnSpPr/>
          <p:nvPr/>
        </p:nvCxnSpPr>
        <p:spPr>
          <a:xfrm>
            <a:off x="10629899" y="2651760"/>
            <a:ext cx="0" cy="365760"/>
          </a:xfrm>
          <a:prstGeom prst="line">
            <a:avLst/>
          </a:prstGeom>
          <a:ln w="22225">
            <a:solidFill>
              <a:srgbClr val="A9322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840479" y="3017520"/>
            <a:ext cx="6789420" cy="0"/>
          </a:xfrm>
          <a:prstGeom prst="line">
            <a:avLst/>
          </a:prstGeom>
          <a:ln w="22225">
            <a:solidFill>
              <a:srgbClr val="A9322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840479" y="2679192"/>
            <a:ext cx="0" cy="338328"/>
          </a:xfrm>
          <a:prstGeom prst="line">
            <a:avLst/>
          </a:prstGeom>
          <a:ln w="22225">
            <a:solidFill>
              <a:srgbClr val="A9322E"/>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14799" y="3072384"/>
            <a:ext cx="6240779" cy="320040"/>
          </a:xfrm>
          <a:prstGeom prst="rect">
            <a:avLst/>
          </a:prstGeom>
          <a:noFill/>
        </p:spPr>
        <p:txBody>
          <a:bodyPr wrap="square" anchor="t" lIns="0" rIns="0" tIns="0" bIns="0">
            <a:spAutoFit/>
          </a:bodyPr>
          <a:lstStyle/>
          <a:p>
            <a:pPr algn="ctr">
              <a:spcAft>
                <a:spcPts val="600"/>
              </a:spcAft>
              <a:buNone/>
            </a:pPr>
            <a:r>
              <a:rPr sz="1400" b="0" i="1">
                <a:solidFill>
                  <a:srgbClr val="A9322E"/>
                </a:solidFill>
                <a:latin typeface="Calibri"/>
              </a:rPr>
              <a:t>RETRY: νέα επανάληψη με το feedback του προηγούμενου γύρου (έως 3)</a:t>
            </a:r>
          </a:p>
        </p:txBody>
      </p:sp>
      <p:sp>
        <p:nvSpPr>
          <p:cNvPr id="18" name="TextBox 17"/>
          <p:cNvSpPr txBox="1"/>
          <p:nvPr/>
        </p:nvSpPr>
        <p:spPr>
          <a:xfrm>
            <a:off x="640080" y="3657600"/>
            <a:ext cx="5212080" cy="457200"/>
          </a:xfrm>
          <a:prstGeom prst="rect">
            <a:avLst/>
          </a:prstGeom>
          <a:noFill/>
        </p:spPr>
        <p:txBody>
          <a:bodyPr wrap="square" anchor="t" lIns="0" rIns="0" tIns="0" bIns="0">
            <a:spAutoFit/>
          </a:bodyPr>
          <a:lstStyle/>
          <a:p>
            <a:pPr algn="l">
              <a:spcAft>
                <a:spcPts val="600"/>
              </a:spcAft>
              <a:buNone/>
            </a:pPr>
            <a:r>
              <a:rPr sz="2000" b="1" i="0">
                <a:solidFill>
                  <a:srgbClr val="1F3864"/>
                </a:solidFill>
                <a:latin typeface="Cambria"/>
              </a:rPr>
              <a:t>Όρια ασφάλειας</a:t>
            </a:r>
          </a:p>
        </p:txBody>
      </p:sp>
      <p:sp>
        <p:nvSpPr>
          <p:cNvPr id="19" name="TextBox 18"/>
          <p:cNvSpPr txBox="1"/>
          <p:nvPr/>
        </p:nvSpPr>
        <p:spPr>
          <a:xfrm>
            <a:off x="640080" y="4160520"/>
            <a:ext cx="5212080" cy="2011680"/>
          </a:xfrm>
          <a:prstGeom prst="rect">
            <a:avLst/>
          </a:prstGeom>
          <a:noFill/>
        </p:spPr>
        <p:txBody>
          <a:bodyPr wrap="square" anchor="t" lIns="0" rIns="0" tIns="0" bIns="0">
            <a:spAutoFit/>
          </a:bodyPr>
          <a:lstStyle/>
          <a:p>
            <a:pPr algn="l" marL="256032" indent="-256032">
              <a:spcAft>
                <a:spcPts val="600"/>
              </a:spcAft>
              <a:buFont typeface="Arial"/>
              <a:buChar char="•"/>
            </a:pPr>
            <a:r>
              <a:rPr sz="1600" b="0" i="0">
                <a:solidFill>
                  <a:srgbClr val="262626"/>
                </a:solidFill>
                <a:latin typeface="Calibri"/>
              </a:rPr>
              <a:t>Χωρίς εκτέλεση αυθαίρετου κώδικα</a:t>
            </a:r>
          </a:p>
          <a:p>
            <a:pPr algn="l" marL="256032" indent="-256032">
              <a:spcAft>
                <a:spcPts val="600"/>
              </a:spcAft>
              <a:buFont typeface="Arial"/>
              <a:buChar char="•"/>
            </a:pPr>
            <a:r>
              <a:rPr sz="1600" b="0" i="0">
                <a:solidFill>
                  <a:srgbClr val="262626"/>
                </a:solidFill>
                <a:latin typeface="Calibri"/>
              </a:rPr>
              <a:t>Το LLM δεν βλέπει τις συναλλαγές ούτε το test set</a:t>
            </a:r>
          </a:p>
          <a:p>
            <a:pPr algn="l" marL="256032" indent="-256032">
              <a:spcAft>
                <a:spcPts val="600"/>
              </a:spcAft>
              <a:buFont typeface="Arial"/>
              <a:buChar char="•"/>
            </a:pPr>
            <a:r>
              <a:rPr sz="1600" b="0" i="0">
                <a:solidFill>
                  <a:srgbClr val="262626"/>
                </a:solidFill>
                <a:latin typeface="Calibri"/>
              </a:rPr>
              <a:t>Μόνο μετασχηματισμοί από allowlist</a:t>
            </a:r>
          </a:p>
        </p:txBody>
      </p:sp>
      <p:sp>
        <p:nvSpPr>
          <p:cNvPr id="20" name="TextBox 19"/>
          <p:cNvSpPr txBox="1"/>
          <p:nvPr/>
        </p:nvSpPr>
        <p:spPr>
          <a:xfrm>
            <a:off x="6355080" y="3657600"/>
            <a:ext cx="5212080" cy="457200"/>
          </a:xfrm>
          <a:prstGeom prst="rect">
            <a:avLst/>
          </a:prstGeom>
          <a:noFill/>
        </p:spPr>
        <p:txBody>
          <a:bodyPr wrap="square" anchor="t" lIns="0" rIns="0" tIns="0" bIns="0">
            <a:spAutoFit/>
          </a:bodyPr>
          <a:lstStyle/>
          <a:p>
            <a:pPr algn="l">
              <a:spcAft>
                <a:spcPts val="600"/>
              </a:spcAft>
              <a:buNone/>
            </a:pPr>
            <a:r>
              <a:rPr sz="2000" b="1" i="0">
                <a:solidFill>
                  <a:srgbClr val="1F3864"/>
                </a:solidFill>
                <a:latin typeface="Cambria"/>
              </a:rPr>
              <a:t>Δείκτης ποιότητας (DQS)</a:t>
            </a:r>
          </a:p>
        </p:txBody>
      </p:sp>
      <p:sp>
        <p:nvSpPr>
          <p:cNvPr id="21" name="TextBox 20"/>
          <p:cNvSpPr txBox="1"/>
          <p:nvPr/>
        </p:nvSpPr>
        <p:spPr>
          <a:xfrm>
            <a:off x="6355080" y="4160520"/>
            <a:ext cx="5212080" cy="2011680"/>
          </a:xfrm>
          <a:prstGeom prst="rect">
            <a:avLst/>
          </a:prstGeom>
          <a:noFill/>
        </p:spPr>
        <p:txBody>
          <a:bodyPr wrap="square" anchor="t" lIns="0" rIns="0" tIns="0" bIns="0">
            <a:spAutoFit/>
          </a:bodyPr>
          <a:lstStyle/>
          <a:p>
            <a:pPr algn="l">
              <a:spcAft>
                <a:spcPts val="0"/>
              </a:spcAft>
              <a:buNone/>
            </a:pPr>
            <a:r>
              <a:rPr sz="1600" b="0" i="0">
                <a:solidFill>
                  <a:srgbClr val="262626"/>
                </a:solidFill>
                <a:latin typeface="Calibri"/>
              </a:rPr>
              <a:t>DQS = 0,30·Completeness + 0,25·Validity</a:t>
            </a:r>
          </a:p>
          <a:p>
            <a:pPr algn="l">
              <a:spcAft>
                <a:spcPts val="1000"/>
              </a:spcAft>
              <a:buNone/>
            </a:pPr>
            <a:r>
              <a:rPr sz="1600" b="0" i="0">
                <a:solidFill>
                  <a:srgbClr val="262626"/>
                </a:solidFill>
                <a:latin typeface="Calibri"/>
              </a:rPr>
              <a:t>          + 0,25·Consistency + 0,20·Uniqueness</a:t>
            </a:r>
          </a:p>
          <a:p>
            <a:pPr algn="l">
              <a:spcAft>
                <a:spcPts val="600"/>
              </a:spcAft>
              <a:buNone/>
            </a:pPr>
            <a:r>
              <a:rPr sz="1600" b="0" i="0">
                <a:solidFill>
                  <a:srgbClr val="262626"/>
                </a:solidFill>
                <a:latin typeface="Calibri"/>
              </a:rPr>
              <a:t>Η απόφαση λαμβάνει υπόψη και PR-AUC, όρια Recall/Precision και χρόνο εκτέλεσης</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stCondLst>
                      <p:childTnLst>
                        <p:par>
                          <p:cTn id="35"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3" dur="500"/>
                                        <p:tgtEl>
                                          <p:spTgt spid="5"/>
                                        </p:tgtEl>
                                      </p:cBhvr>
                                    </p:animEffect>
                                    <p:anim calcmode="lin" valueType="num">
                                      <p:cBhvr>
                                        <p:cTn id="4" dur="500" fill="hold"/>
                                        <p:tgtEl>
                                          <p:spTgt spid="5"/>
                                        </p:tgtEl>
                                        <p:attrNameLst>
                                          <p:attrName>ppt_y</p:attrName>
                                        </p:attrNameLst>
                                      </p:cBhvr>
                                      <p:tavLst>
                                        <p:tav tm="0">
                                          <p:val>
                                            <p:strVal val="#ppt_y+0.05"/>
                                          </p:val>
                                        </p:tav>
                                        <p:tav tm="100000">
                                          <p:val>
                                            <p:strVal val="#ppt_y"/>
                                          </p:val>
                                        </p:tav>
                                      </p:tavLst>
                                    </p:anim>
                                  </p:childTnLst>
                                </p:cTn>
                              </p:par>
                              <p:par>
                                <p:cTn id="8" presetID="22" presetClass="entr" presetSubtype="8" fill="hold" nodeType="withEffect">
                                  <p:stCondLst>
                                    <p:cond delay="3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12" presetID="42" presetClass="entr" presetSubtype="0" fill="hold" nodeType="withEffect">
                                  <p:stCondLst>
                                    <p:cond delay="700"/>
                                  </p:stCondLst>
                                  <p:childTnLst>
                                    <p:set>
                                      <p:cBhvr>
                                        <p:cTn id="13"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anim calcmode="lin" valueType="num">
                                      <p:cBhvr>
                                        <p:cTn id="11" dur="500" fill="hold"/>
                                        <p:tgtEl>
                                          <p:spTgt spid="7"/>
                                        </p:tgtEl>
                                        <p:attrNameLst>
                                          <p:attrName>ppt_y</p:attrName>
                                        </p:attrNameLst>
                                      </p:cBhvr>
                                      <p:tavLst>
                                        <p:tav tm="0">
                                          <p:val>
                                            <p:strVal val="#ppt_y+0.05"/>
                                          </p:val>
                                        </p:tav>
                                        <p:tav tm="100000">
                                          <p:val>
                                            <p:strVal val="#ppt_y"/>
                                          </p:val>
                                        </p:tav>
                                      </p:tavLst>
                                    </p:anim>
                                  </p:childTnLst>
                                </p:cTn>
                              </p:par>
                              <p:par>
                                <p:cTn id="15" presetID="22" presetClass="entr" presetSubtype="8" fill="hold" nodeType="withEffect">
                                  <p:stCondLst>
                                    <p:cond delay="105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4" dur="500"/>
                                        <p:tgtEl>
                                          <p:spTgt spid="8"/>
                                        </p:tgtEl>
                                      </p:cBhvr>
                                    </p:animEffect>
                                  </p:childTnLst>
                                </p:cTn>
                              </p:par>
                              <p:par>
                                <p:cTn id="19" presetID="42" presetClass="entr" presetSubtype="0" fill="hold" nodeType="withEffect">
                                  <p:stCondLst>
                                    <p:cond delay="1400"/>
                                  </p:stCondLst>
                                  <p:childTnLst>
                                    <p:set>
                                      <p:cBhvr>
                                        <p:cTn id="20"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anim calcmode="lin" valueType="num">
                                      <p:cBhvr>
                                        <p:cTn id="18" dur="500" fill="hold"/>
                                        <p:tgtEl>
                                          <p:spTgt spid="9"/>
                                        </p:tgtEl>
                                        <p:attrNameLst>
                                          <p:attrName>ppt_y</p:attrName>
                                        </p:attrNameLst>
                                      </p:cBhvr>
                                      <p:tavLst>
                                        <p:tav tm="0">
                                          <p:val>
                                            <p:strVal val="#ppt_y+0.05"/>
                                          </p:val>
                                        </p:tav>
                                        <p:tav tm="100000">
                                          <p:val>
                                            <p:strVal val="#ppt_y"/>
                                          </p:val>
                                        </p:tav>
                                      </p:tavLst>
                                    </p:anim>
                                  </p:childTnLst>
                                </p:cTn>
                              </p:par>
                              <p:par>
                                <p:cTn id="22" presetID="22" presetClass="entr" presetSubtype="8" fill="hold" nodeType="withEffect">
                                  <p:stCondLst>
                                    <p:cond delay="175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par>
                                <p:cTn id="26" presetID="42" presetClass="entr" presetSubtype="0" fill="hold" nodeType="withEffect">
                                  <p:stCondLst>
                                    <p:cond delay="21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anim calcmode="lin" valueType="num">
                                      <p:cBhvr>
                                        <p:cTn id="25" dur="500" fill="hold"/>
                                        <p:tgtEl>
                                          <p:spTgt spid="11"/>
                                        </p:tgtEl>
                                        <p:attrNameLst>
                                          <p:attrName>ppt_y</p:attrName>
                                        </p:attrNameLst>
                                      </p:cBhvr>
                                      <p:tavLst>
                                        <p:tav tm="0">
                                          <p:val>
                                            <p:strVal val="#ppt_y+0.05"/>
                                          </p:val>
                                        </p:tav>
                                        <p:tav tm="100000">
                                          <p:val>
                                            <p:strVal val="#ppt_y"/>
                                          </p:val>
                                        </p:tav>
                                      </p:tavLst>
                                    </p:anim>
                                  </p:childTnLst>
                                </p:cTn>
                              </p:par>
                              <p:par>
                                <p:cTn id="29" presetID="22" presetClass="entr" presetSubtype="8" fill="hold" nodeType="withEffect">
                                  <p:stCondLst>
                                    <p:cond delay="245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33" presetID="42" presetClass="entr" presetSubtype="0" fill="hold" nodeType="withEffect">
                                  <p:stCondLst>
                                    <p:cond delay="2800"/>
                                  </p:stCondLst>
                                  <p:childTnLst>
                                    <p:set>
                                      <p:cBhvr>
                                        <p:cTn id="34"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ppt_y</p:attrName>
                                        </p:attrNameLst>
                                      </p:cBhvr>
                                      <p:tavLst>
                                        <p:tav tm="0">
                                          <p:val>
                                            <p:strVal val="#ppt_y+0.05"/>
                                          </p:val>
                                        </p:tav>
                                        <p:tav tm="100000">
                                          <p:val>
                                            <p:strVal val="#ppt_y"/>
                                          </p:val>
                                        </p:tav>
                                      </p:tavLst>
                                    </p:anim>
                                  </p:childTnLst>
                                </p:cTn>
                              </p:par>
                            </p:childTnLst>
                          </p:cTn>
                        </p:par>
                      </p:childTnLst>
                    </p:cTn>
                  </p:par>
                  <p:par>
                    <p:cTn id="50" fill="hold">
                      <p:stCondLst>
                        <p:cond delay="indefinite"/>
                      </p:stCondLst>
                      <p:childTnLst>
                        <p:par>
                          <p:cTn id="49"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58" fill="hold">
                      <p:stCondLst>
                        <p:cond delay="indefinite"/>
                      </p:stCondLst>
                      <p:childTnLst>
                        <p:par>
                          <p:cTn id="57"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5" presetID="10" presetClass="entr" presetSubtype="0" fill="hold" nodeType="withEffect">
                                  <p:stCondLst>
                                    <p:cond delay="200"/>
                                  </p:stCondLst>
                                  <p:childTnLst>
                                    <p:set>
                                      <p:cBhvr>
                                        <p:cTn id="56"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childTnLst>
                          </p:cTn>
                        </p:par>
                      </p:childTnLst>
                    </p:cTn>
                  </p:par>
                  <p:par>
                    <p:cTn id="66" fill="hold">
                      <p:stCondLst>
                        <p:cond delay="indefinite"/>
                      </p:stCondLst>
                      <p:childTnLst>
                        <p:par>
                          <p:cTn id="65"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3" presetID="10" presetClass="entr" presetSubtype="0" fill="hold" nodeType="withEffect">
                                  <p:stCondLst>
                                    <p:cond delay="200"/>
                                  </p:stCondLst>
                                  <p:childTnLst>
                                    <p:set>
                                      <p:cBhvr>
                                        <p:cTn id="64"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731520"/>
          </a:xfrm>
          <a:prstGeom prst="rect">
            <a:avLst/>
          </a:prstGeom>
          <a:noFill/>
        </p:spPr>
        <p:txBody>
          <a:bodyPr wrap="square" anchor="ctr" lIns="0" rIns="0" tIns="0" bIns="0">
            <a:spAutoFit/>
          </a:bodyPr>
          <a:lstStyle/>
          <a:p>
            <a:pPr algn="l">
              <a:spcAft>
                <a:spcPts val="600"/>
              </a:spcAft>
              <a:buNone/>
            </a:pPr>
            <a:r>
              <a:rPr sz="3200" b="1" i="0">
                <a:solidFill>
                  <a:srgbClr val="1F3864"/>
                </a:solidFill>
                <a:latin typeface="Cambria"/>
              </a:rPr>
              <a:t>Πορεία των επαναλήψεων του Agent</a:t>
            </a:r>
          </a:p>
        </p:txBody>
      </p:sp>
      <p:sp>
        <p:nvSpPr>
          <p:cNvPr id="3" name="TextBox 2"/>
          <p:cNvSpPr txBox="1"/>
          <p:nvPr/>
        </p:nvSpPr>
        <p:spPr>
          <a:xfrm>
            <a:off x="640080" y="6355080"/>
            <a:ext cx="9601200" cy="274320"/>
          </a:xfrm>
          <a:prstGeom prst="rect">
            <a:avLst/>
          </a:prstGeom>
          <a:noFill/>
        </p:spPr>
        <p:txBody>
          <a:bodyPr wrap="square" anchor="t" lIns="0" rIns="0" tIns="0" bIns="0">
            <a:spAutoFit/>
          </a:bodyPr>
          <a:lstStyle/>
          <a:p>
            <a:pPr algn="l">
              <a:spcAft>
                <a:spcPts val="600"/>
              </a:spcAft>
              <a:buNone/>
            </a:pPr>
            <a:r>
              <a:rPr sz="1000" b="0" i="0">
                <a:solidFill>
                  <a:srgbClr val="6B6B6B"/>
                </a:solidFill>
                <a:latin typeface="Calibri"/>
              </a:rPr>
              <a:t>Γαληρόπουλος Θεοδόσιος  ·  Agentic AI για αυτοματοποιημένη διαχείριση ποιότητας δεδομένων</a:t>
            </a:r>
          </a:p>
        </p:txBody>
      </p:sp>
      <p:sp>
        <p:nvSpPr>
          <p:cNvPr id="4" name="TextBox 3"/>
          <p:cNvSpPr txBox="1"/>
          <p:nvPr/>
        </p:nvSpPr>
        <p:spPr>
          <a:xfrm>
            <a:off x="10607040" y="6355080"/>
            <a:ext cx="914400" cy="274320"/>
          </a:xfrm>
          <a:prstGeom prst="rect">
            <a:avLst/>
          </a:prstGeom>
          <a:noFill/>
        </p:spPr>
        <p:txBody>
          <a:bodyPr wrap="square" anchor="t" lIns="0" rIns="0" tIns="0" bIns="0">
            <a:spAutoFit/>
          </a:bodyPr>
          <a:lstStyle/>
          <a:p>
            <a:pPr algn="r">
              <a:spcAft>
                <a:spcPts val="600"/>
              </a:spcAft>
              <a:buNone/>
            </a:pPr>
            <a:r>
              <a:rPr sz="1000" b="0" i="0">
                <a:solidFill>
                  <a:srgbClr val="6B6B6B"/>
                </a:solidFill>
                <a:latin typeface="Calibri"/>
              </a:rPr>
              <a:t>7 / 10</a:t>
            </a:r>
          </a:p>
        </p:txBody>
      </p:sp>
      <p:graphicFrame>
        <p:nvGraphicFramePr>
          <p:cNvPr id="5" name="Table 4"/>
          <p:cNvGraphicFramePr>
            <a:graphicFrameLocks noGrp="1"/>
          </p:cNvGraphicFramePr>
          <p:nvPr/>
        </p:nvGraphicFramePr>
        <p:xfrm>
          <a:off x="640080" y="1417320"/>
          <a:ext cx="10927078" cy="548640"/>
        </p:xfrm>
        <a:graphic>
          <a:graphicData uri="http://schemas.openxmlformats.org/drawingml/2006/table">
            <a:tbl>
              <a:tblPr firstRow="0" bandRow="0">
                <a:tableStyleId>{5C22544A-7EE6-4342-B048-85BDC9FD1C3A}</a:tableStyleId>
              </a:tblPr>
              <a:tblGrid>
                <a:gridCol w="1280160"/>
                <a:gridCol w="3977639"/>
                <a:gridCol w="3749039"/>
                <a:gridCol w="1920240"/>
              </a:tblGrid>
              <a:tr h="548640">
                <a:tc>
                  <a:txBody>
                    <a:bodyPr wrap="square"/>
                    <a:lstStyle/>
                    <a:p>
                      <a:pPr algn="l"/>
                      <a:r>
                        <a:rPr sz="1500" b="1" i="0">
                          <a:solidFill>
                            <a:srgbClr val="FFFFFF"/>
                          </a:solidFill>
                          <a:latin typeface="Calibri"/>
                        </a:rPr>
                        <a:t>Plan</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1F3864"/>
                    </a:solidFill>
                  </a:tcPr>
                </a:tc>
                <a:tc>
                  <a:txBody>
                    <a:bodyPr wrap="square"/>
                    <a:lstStyle/>
                    <a:p>
                      <a:pPr algn="l"/>
                      <a:r>
                        <a:rPr sz="1500" b="1" i="0">
                          <a:solidFill>
                            <a:srgbClr val="FFFFFF"/>
                          </a:solidFill>
                          <a:latin typeface="Calibri"/>
                        </a:rPr>
                        <a:t>Πρόταση του Agent</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1F3864"/>
                    </a:solidFill>
                  </a:tcPr>
                </a:tc>
                <a:tc>
                  <a:txBody>
                    <a:bodyPr wrap="square"/>
                    <a:lstStyle/>
                    <a:p>
                      <a:pPr algn="l"/>
                      <a:r>
                        <a:rPr sz="1500" b="1" i="0">
                          <a:solidFill>
                            <a:srgbClr val="FFFFFF"/>
                          </a:solidFill>
                          <a:latin typeface="Calibri"/>
                        </a:rPr>
                        <a:t>Αποτέλεσμα</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1F3864"/>
                    </a:solidFill>
                  </a:tcPr>
                </a:tc>
                <a:tc>
                  <a:txBody>
                    <a:bodyPr wrap="square"/>
                    <a:lstStyle/>
                    <a:p>
                      <a:pPr algn="ctr"/>
                      <a:r>
                        <a:rPr sz="1500" b="1" i="0">
                          <a:solidFill>
                            <a:srgbClr val="FFFFFF"/>
                          </a:solidFill>
                          <a:latin typeface="Calibri"/>
                        </a:rPr>
                        <a:t>Απόφαση</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1F3864"/>
                    </a:solidFill>
                  </a:tcPr>
                </a:tc>
              </a:tr>
            </a:tbl>
          </a:graphicData>
        </a:graphic>
      </p:graphicFrame>
      <p:graphicFrame>
        <p:nvGraphicFramePr>
          <p:cNvPr id="6" name="Table 5"/>
          <p:cNvGraphicFramePr>
            <a:graphicFrameLocks noGrp="1"/>
          </p:cNvGraphicFramePr>
          <p:nvPr/>
        </p:nvGraphicFramePr>
        <p:xfrm>
          <a:off x="640080" y="1965960"/>
          <a:ext cx="10927078" cy="777240"/>
        </p:xfrm>
        <a:graphic>
          <a:graphicData uri="http://schemas.openxmlformats.org/drawingml/2006/table">
            <a:tbl>
              <a:tblPr firstRow="0" bandRow="0">
                <a:tableStyleId>{5C22544A-7EE6-4342-B048-85BDC9FD1C3A}</a:tableStyleId>
              </a:tblPr>
              <a:tblGrid>
                <a:gridCol w="1280160"/>
                <a:gridCol w="3977639"/>
                <a:gridCol w="3749039"/>
                <a:gridCol w="1920240"/>
              </a:tblGrid>
              <a:tr h="777240">
                <a:tc>
                  <a:txBody>
                    <a:bodyPr wrap="square"/>
                    <a:lstStyle/>
                    <a:p>
                      <a:pPr algn="l"/>
                      <a:r>
                        <a:rPr sz="1500" b="1" i="0">
                          <a:solidFill>
                            <a:srgbClr val="262626"/>
                          </a:solidFill>
                          <a:latin typeface="Calibri"/>
                        </a:rPr>
                        <a:t>Plan 1</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l"/>
                      <a:r>
                        <a:rPr sz="1500" b="0" i="0">
                          <a:solidFill>
                            <a:srgbClr val="262626"/>
                          </a:solidFill>
                          <a:latin typeface="Calibri"/>
                        </a:rPr>
                        <a:t>Most-frequent imputation στη type, log στο amount</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l"/>
                      <a:r>
                        <a:rPr sz="1500" b="0" i="0">
                          <a:solidFill>
                            <a:srgbClr val="262626"/>
                          </a:solidFill>
                          <a:latin typeface="Calibri"/>
                        </a:rPr>
                        <a:t>PR-AUC −0,0149, παραβίαση ορίου Precision</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500" b="1" i="0">
                          <a:solidFill>
                            <a:srgbClr val="A9322E"/>
                          </a:solidFill>
                          <a:latin typeface="Calibri"/>
                        </a:rPr>
                        <a:t>RETRY</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r>
            </a:tbl>
          </a:graphicData>
        </a:graphic>
      </p:graphicFrame>
      <p:graphicFrame>
        <p:nvGraphicFramePr>
          <p:cNvPr id="7" name="Table 6"/>
          <p:cNvGraphicFramePr>
            <a:graphicFrameLocks noGrp="1"/>
          </p:cNvGraphicFramePr>
          <p:nvPr/>
        </p:nvGraphicFramePr>
        <p:xfrm>
          <a:off x="640080" y="2743200"/>
          <a:ext cx="10927078" cy="777240"/>
        </p:xfrm>
        <a:graphic>
          <a:graphicData uri="http://schemas.openxmlformats.org/drawingml/2006/table">
            <a:tbl>
              <a:tblPr firstRow="0" bandRow="0">
                <a:tableStyleId>{5C22544A-7EE6-4342-B048-85BDC9FD1C3A}</a:tableStyleId>
              </a:tblPr>
              <a:tblGrid>
                <a:gridCol w="1280160"/>
                <a:gridCol w="3977639"/>
                <a:gridCol w="3749039"/>
                <a:gridCol w="1920240"/>
              </a:tblGrid>
              <a:tr h="777240">
                <a:tc>
                  <a:txBody>
                    <a:bodyPr wrap="square"/>
                    <a:lstStyle/>
                    <a:p>
                      <a:pPr algn="l"/>
                      <a:r>
                        <a:rPr sz="1500" b="1" i="0">
                          <a:solidFill>
                            <a:srgbClr val="262626"/>
                          </a:solidFill>
                          <a:latin typeface="Calibri"/>
                        </a:rPr>
                        <a:t>Plan 2</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l"/>
                      <a:r>
                        <a:rPr sz="1500" b="0" i="0">
                          <a:solidFill>
                            <a:srgbClr val="262626"/>
                          </a:solidFill>
                          <a:latin typeface="Calibri"/>
                        </a:rPr>
                        <a:t>Standard scaling για Logistic Regression</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l"/>
                      <a:r>
                        <a:rPr sz="1500" b="0" i="0">
                          <a:solidFill>
                            <a:srgbClr val="262626"/>
                          </a:solidFill>
                          <a:latin typeface="Calibri"/>
                        </a:rPr>
                        <a:t>Καμία μεταβολή (υπήρχε ήδη στο baseline)</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500" b="1" i="0">
                          <a:solidFill>
                            <a:srgbClr val="A9322E"/>
                          </a:solidFill>
                          <a:latin typeface="Calibri"/>
                        </a:rPr>
                        <a:t>RETRY</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r>
            </a:tbl>
          </a:graphicData>
        </a:graphic>
      </p:graphicFrame>
      <p:graphicFrame>
        <p:nvGraphicFramePr>
          <p:cNvPr id="8" name="Table 7"/>
          <p:cNvGraphicFramePr>
            <a:graphicFrameLocks noGrp="1"/>
          </p:cNvGraphicFramePr>
          <p:nvPr/>
        </p:nvGraphicFramePr>
        <p:xfrm>
          <a:off x="640080" y="3520439"/>
          <a:ext cx="10927078" cy="777240"/>
        </p:xfrm>
        <a:graphic>
          <a:graphicData uri="http://schemas.openxmlformats.org/drawingml/2006/table">
            <a:tbl>
              <a:tblPr firstRow="0" bandRow="0">
                <a:tableStyleId>{5C22544A-7EE6-4342-B048-85BDC9FD1C3A}</a:tableStyleId>
              </a:tblPr>
              <a:tblGrid>
                <a:gridCol w="1280160"/>
                <a:gridCol w="3977639"/>
                <a:gridCol w="3749039"/>
                <a:gridCol w="1920240"/>
              </a:tblGrid>
              <a:tr h="777240">
                <a:tc>
                  <a:txBody>
                    <a:bodyPr wrap="square"/>
                    <a:lstStyle/>
                    <a:p>
                      <a:pPr algn="l"/>
                      <a:r>
                        <a:rPr sz="1500" b="1" i="0">
                          <a:solidFill>
                            <a:srgbClr val="262626"/>
                          </a:solidFill>
                          <a:latin typeface="Calibri"/>
                        </a:rPr>
                        <a:t>Plan 3</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l"/>
                      <a:r>
                        <a:rPr sz="1500" b="0" i="0">
                          <a:solidFill>
                            <a:srgbClr val="262626"/>
                          </a:solidFill>
                          <a:latin typeface="Calibri"/>
                        </a:rPr>
                        <a:t>Constant imputation («missing») και one-hot encoding</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l"/>
                      <a:r>
                        <a:rPr sz="1500" b="0" i="0">
                          <a:solidFill>
                            <a:srgbClr val="262626"/>
                          </a:solidFill>
                          <a:latin typeface="Calibri"/>
                        </a:rPr>
                        <a:t>DQS 0,997569 → 0,999712, PR-AUC αμετάβλητη</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500" b="1" i="0">
                          <a:solidFill>
                            <a:srgbClr val="2E7D32"/>
                          </a:solidFill>
                          <a:latin typeface="Calibri"/>
                        </a:rPr>
                        <a:t>ACCEPT</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r>
            </a:tbl>
          </a:graphicData>
        </a:graphic>
      </p:graphicFrame>
      <p:sp>
        <p:nvSpPr>
          <p:cNvPr id="9" name="TextBox 8"/>
          <p:cNvSpPr txBox="1"/>
          <p:nvPr/>
        </p:nvSpPr>
        <p:spPr>
          <a:xfrm>
            <a:off x="640080" y="4526280"/>
            <a:ext cx="10927080" cy="254000"/>
          </a:xfrm>
          <a:prstGeom prst="rect">
            <a:avLst/>
          </a:prstGeom>
          <a:noFill/>
        </p:spPr>
        <p:txBody>
          <a:bodyPr wrap="square" anchor="t" lIns="0" rIns="0" tIns="0" bIns="0">
            <a:spAutoFit/>
          </a:bodyPr>
          <a:lstStyle/>
          <a:p>
            <a:pPr algn="l" marL="256032" indent="-256032">
              <a:spcAft>
                <a:spcPts val="0"/>
              </a:spcAft>
              <a:buFont typeface="Arial"/>
              <a:buChar char="•"/>
            </a:pPr>
            <a:r>
              <a:rPr sz="1600" b="0" i="0">
                <a:solidFill>
                  <a:srgbClr val="262626"/>
                </a:solidFill>
                <a:latin typeface="Calibri"/>
              </a:rPr>
              <a:t>Ο Agent απέρριψε μια επιβλαβή στρατηγική και αξιοποίησε το feedback για να προτείνει διαφορετική</a:t>
            </a:r>
          </a:p>
        </p:txBody>
      </p:sp>
      <p:sp>
        <p:nvSpPr>
          <p:cNvPr id="10" name="TextBox 9"/>
          <p:cNvSpPr txBox="1"/>
          <p:nvPr/>
        </p:nvSpPr>
        <p:spPr>
          <a:xfrm>
            <a:off x="640080" y="4917440"/>
            <a:ext cx="10927080" cy="254000"/>
          </a:xfrm>
          <a:prstGeom prst="rect">
            <a:avLst/>
          </a:prstGeom>
          <a:noFill/>
        </p:spPr>
        <p:txBody>
          <a:bodyPr wrap="square" anchor="t" lIns="0" rIns="0" tIns="0" bIns="0">
            <a:spAutoFit/>
          </a:bodyPr>
          <a:lstStyle/>
          <a:p>
            <a:pPr algn="l" marL="256032" indent="-256032">
              <a:spcAft>
                <a:spcPts val="0"/>
              </a:spcAft>
              <a:buFont typeface="Arial"/>
              <a:buChar char="•"/>
            </a:pPr>
            <a:r>
              <a:rPr sz="1600" b="0" i="0">
                <a:solidFill>
                  <a:srgbClr val="262626"/>
                </a:solidFill>
                <a:latin typeface="Calibri"/>
              </a:rPr>
              <a:t>Η αποδοχή του plan 3 παραμένει ίδια σε όλα τα σενάρια βαρών του DQS που εξετάστηκαν</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4" presetID="10"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3" dur="500"/>
                                        <p:tgtEl>
                                          <p:spTgt spid="5"/>
                                        </p:tgtEl>
                                      </p:cBhvr>
                                    </p:animEffect>
                                  </p:childTnLst>
                                </p:cTn>
                              </p:par>
                            </p:childTnLst>
                          </p:cTn>
                        </p:par>
                      </p:childTnLst>
                    </p:cTn>
                  </p:par>
                  <p:par>
                    <p:cTn id="12" fill="hold">
                      <p:stCondLst>
                        <p:cond delay="indefinite"/>
                      </p:stCondLst>
                      <p:childTnLst>
                        <p:par>
                          <p:cTn id="11"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8" dur="500"/>
                                        <p:tgtEl>
                                          <p:spTgt spid="6"/>
                                        </p:tgtEl>
                                      </p:cBhvr>
                                    </p:animEffect>
                                  </p:childTnLst>
                                </p:cTn>
                              </p:par>
                            </p:childTnLst>
                          </p:cTn>
                        </p:par>
                      </p:childTnLst>
                    </p:cTn>
                  </p:par>
                  <p:par>
                    <p:cTn id="17" fill="hold">
                      <p:stCondLst>
                        <p:cond delay="indefinite"/>
                      </p:stCondLst>
                      <p:childTnLst>
                        <p:par>
                          <p:cTn id="16"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22" fill="hold">
                      <p:stCondLst>
                        <p:cond delay="indefinite"/>
                      </p:stCondLst>
                      <p:childTnLst>
                        <p:par>
                          <p:cTn id="21"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30" fill="hold">
                      <p:stCondLst>
                        <p:cond delay="indefinite"/>
                      </p:stCondLst>
                      <p:childTnLst>
                        <p:par>
                          <p:cTn id="29"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7" presetID="10" presetClass="entr" presetSubtype="0" fill="hold" nodeType="withEffect">
                                  <p:stCondLst>
                                    <p:cond delay="3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731520"/>
          </a:xfrm>
          <a:prstGeom prst="rect">
            <a:avLst/>
          </a:prstGeom>
          <a:noFill/>
        </p:spPr>
        <p:txBody>
          <a:bodyPr wrap="square" anchor="ctr" lIns="0" rIns="0" tIns="0" bIns="0">
            <a:spAutoFit/>
          </a:bodyPr>
          <a:lstStyle/>
          <a:p>
            <a:pPr algn="l">
              <a:spcAft>
                <a:spcPts val="600"/>
              </a:spcAft>
              <a:buNone/>
            </a:pPr>
            <a:r>
              <a:rPr sz="3200" b="1" i="0">
                <a:solidFill>
                  <a:srgbClr val="1F3864"/>
                </a:solidFill>
                <a:latin typeface="Cambria"/>
              </a:rPr>
              <a:t>Προβλεπτική απόδοση (PR-AUC)</a:t>
            </a:r>
          </a:p>
        </p:txBody>
      </p:sp>
      <p:sp>
        <p:nvSpPr>
          <p:cNvPr id="3" name="TextBox 2"/>
          <p:cNvSpPr txBox="1"/>
          <p:nvPr/>
        </p:nvSpPr>
        <p:spPr>
          <a:xfrm>
            <a:off x="640080" y="6355080"/>
            <a:ext cx="9601200" cy="274320"/>
          </a:xfrm>
          <a:prstGeom prst="rect">
            <a:avLst/>
          </a:prstGeom>
          <a:noFill/>
        </p:spPr>
        <p:txBody>
          <a:bodyPr wrap="square" anchor="t" lIns="0" rIns="0" tIns="0" bIns="0">
            <a:spAutoFit/>
          </a:bodyPr>
          <a:lstStyle/>
          <a:p>
            <a:pPr algn="l">
              <a:spcAft>
                <a:spcPts val="600"/>
              </a:spcAft>
              <a:buNone/>
            </a:pPr>
            <a:r>
              <a:rPr sz="1000" b="0" i="0">
                <a:solidFill>
                  <a:srgbClr val="6B6B6B"/>
                </a:solidFill>
                <a:latin typeface="Calibri"/>
              </a:rPr>
              <a:t>Γαληρόπουλος Θεοδόσιος  ·  Agentic AI για αυτοματοποιημένη διαχείριση ποιότητας δεδομένων</a:t>
            </a:r>
          </a:p>
        </p:txBody>
      </p:sp>
      <p:sp>
        <p:nvSpPr>
          <p:cNvPr id="4" name="TextBox 3"/>
          <p:cNvSpPr txBox="1"/>
          <p:nvPr/>
        </p:nvSpPr>
        <p:spPr>
          <a:xfrm>
            <a:off x="10607040" y="6355080"/>
            <a:ext cx="914400" cy="274320"/>
          </a:xfrm>
          <a:prstGeom prst="rect">
            <a:avLst/>
          </a:prstGeom>
          <a:noFill/>
        </p:spPr>
        <p:txBody>
          <a:bodyPr wrap="square" anchor="t" lIns="0" rIns="0" tIns="0" bIns="0">
            <a:spAutoFit/>
          </a:bodyPr>
          <a:lstStyle/>
          <a:p>
            <a:pPr algn="r">
              <a:spcAft>
                <a:spcPts val="600"/>
              </a:spcAft>
              <a:buNone/>
            </a:pPr>
            <a:r>
              <a:rPr sz="1000" b="0" i="0">
                <a:solidFill>
                  <a:srgbClr val="6B6B6B"/>
                </a:solidFill>
                <a:latin typeface="Calibri"/>
              </a:rPr>
              <a:t>8 / 10</a:t>
            </a:r>
          </a:p>
        </p:txBody>
      </p:sp>
      <p:graphicFrame>
        <p:nvGraphicFramePr>
          <p:cNvPr id="5" name="Table 4"/>
          <p:cNvGraphicFramePr>
            <a:graphicFrameLocks noGrp="1"/>
          </p:cNvGraphicFramePr>
          <p:nvPr/>
        </p:nvGraphicFramePr>
        <p:xfrm>
          <a:off x="640080" y="1417320"/>
          <a:ext cx="10927080" cy="2194560"/>
        </p:xfrm>
        <a:graphic>
          <a:graphicData uri="http://schemas.openxmlformats.org/drawingml/2006/table">
            <a:tbl>
              <a:tblPr firstRow="0" bandRow="0">
                <a:tableStyleId>{5C22544A-7EE6-4342-B048-85BDC9FD1C3A}</a:tableStyleId>
              </a:tblPr>
              <a:tblGrid>
                <a:gridCol w="2880360"/>
                <a:gridCol w="1600200"/>
                <a:gridCol w="1600200"/>
                <a:gridCol w="1600200"/>
                <a:gridCol w="1600200"/>
                <a:gridCol w="1645920"/>
              </a:tblGrid>
              <a:tr h="548640">
                <a:tc>
                  <a:txBody>
                    <a:bodyPr wrap="square"/>
                    <a:lstStyle/>
                    <a:p>
                      <a:pPr algn="l"/>
                      <a:r>
                        <a:rPr sz="1600" b="1" i="0">
                          <a:solidFill>
                            <a:srgbClr val="FFFFFF"/>
                          </a:solidFill>
                          <a:latin typeface="Calibri"/>
                        </a:rPr>
                        <a:t>Μοντέλο</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1F3864"/>
                    </a:solidFill>
                  </a:tcPr>
                </a:tc>
                <a:tc>
                  <a:txBody>
                    <a:bodyPr wrap="square"/>
                    <a:lstStyle/>
                    <a:p>
                      <a:pPr algn="ctr"/>
                      <a:r>
                        <a:rPr sz="1600" b="1" i="0">
                          <a:solidFill>
                            <a:srgbClr val="FFFFFF"/>
                          </a:solidFill>
                          <a:latin typeface="Calibri"/>
                        </a:rPr>
                        <a:t>CV Conv.</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1F3864"/>
                    </a:solidFill>
                  </a:tcPr>
                </a:tc>
                <a:tc>
                  <a:txBody>
                    <a:bodyPr wrap="square"/>
                    <a:lstStyle/>
                    <a:p>
                      <a:pPr algn="ctr"/>
                      <a:r>
                        <a:rPr sz="1600" b="1" i="0">
                          <a:solidFill>
                            <a:srgbClr val="FFFFFF"/>
                          </a:solidFill>
                          <a:latin typeface="Calibri"/>
                        </a:rPr>
                        <a:t>CV Agentic</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1F3864"/>
                    </a:solidFill>
                  </a:tcPr>
                </a:tc>
                <a:tc>
                  <a:txBody>
                    <a:bodyPr wrap="square"/>
                    <a:lstStyle/>
                    <a:p>
                      <a:pPr algn="ctr"/>
                      <a:r>
                        <a:rPr sz="1600" b="1" i="0">
                          <a:solidFill>
                            <a:srgbClr val="FFFFFF"/>
                          </a:solidFill>
                          <a:latin typeface="Calibri"/>
                        </a:rPr>
                        <a:t>Test Conv.</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1F3864"/>
                    </a:solidFill>
                  </a:tcPr>
                </a:tc>
                <a:tc>
                  <a:txBody>
                    <a:bodyPr wrap="square"/>
                    <a:lstStyle/>
                    <a:p>
                      <a:pPr algn="ctr"/>
                      <a:r>
                        <a:rPr sz="1600" b="1" i="0">
                          <a:solidFill>
                            <a:srgbClr val="FFFFFF"/>
                          </a:solidFill>
                          <a:latin typeface="Calibri"/>
                        </a:rPr>
                        <a:t>Test Agentic</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1F3864"/>
                    </a:solidFill>
                  </a:tcPr>
                </a:tc>
                <a:tc>
                  <a:txBody>
                    <a:bodyPr wrap="square"/>
                    <a:lstStyle/>
                    <a:p>
                      <a:pPr algn="ctr"/>
                      <a:r>
                        <a:rPr sz="1600" b="1" i="0">
                          <a:solidFill>
                            <a:srgbClr val="FFFFFF"/>
                          </a:solidFill>
                          <a:latin typeface="Calibri"/>
                        </a:rPr>
                        <a:t>Διαφορά</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1F3864"/>
                    </a:solidFill>
                  </a:tcPr>
                </a:tc>
              </a:tr>
              <a:tr h="548640">
                <a:tc>
                  <a:txBody>
                    <a:bodyPr wrap="square"/>
                    <a:lstStyle/>
                    <a:p>
                      <a:pPr algn="l"/>
                      <a:r>
                        <a:rPr sz="1600" b="1" i="0">
                          <a:solidFill>
                            <a:srgbClr val="262626"/>
                          </a:solidFill>
                          <a:latin typeface="Calibri"/>
                        </a:rPr>
                        <a:t>Logistic Regression</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0,5471</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0,5471</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0,2064</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0,2064</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0,0000</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r>
              <a:tr h="548640">
                <a:tc>
                  <a:txBody>
                    <a:bodyPr wrap="square"/>
                    <a:lstStyle/>
                    <a:p>
                      <a:pPr algn="l"/>
                      <a:r>
                        <a:rPr sz="1600" b="1" i="0">
                          <a:solidFill>
                            <a:srgbClr val="262626"/>
                          </a:solidFill>
                          <a:latin typeface="Calibri"/>
                        </a:rPr>
                        <a:t>Decision Tree</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0,6035</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0,6035</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0,0831</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0,0831</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0,0000</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r>
              <a:tr h="548640">
                <a:tc>
                  <a:txBody>
                    <a:bodyPr wrap="square"/>
                    <a:lstStyle/>
                    <a:p>
                      <a:pPr algn="l"/>
                      <a:r>
                        <a:rPr sz="1600" b="1" i="0">
                          <a:solidFill>
                            <a:srgbClr val="262626"/>
                          </a:solidFill>
                          <a:latin typeface="Calibri"/>
                        </a:rPr>
                        <a:t>Random Forest</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0,8306</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0,8306</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0,3474</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0,3474</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c>
                  <a:txBody>
                    <a:bodyPr wrap="square"/>
                    <a:lstStyle/>
                    <a:p>
                      <a:pPr algn="ctr"/>
                      <a:r>
                        <a:rPr sz="1600" b="0" i="0">
                          <a:solidFill>
                            <a:srgbClr val="262626"/>
                          </a:solidFill>
                          <a:latin typeface="Calibri"/>
                        </a:rPr>
                        <a:t>0,0000</a:t>
                      </a:r>
                    </a:p>
                  </a:txBody>
                  <a:tcPr marL="109728" marR="109728" marT="36576" marB="36576" anchor="ctr">
                    <a:lnL w="9525">
                      <a:solidFill>
                        <a:srgbClr val="C8CFDA"/>
                      </a:solidFill>
                    </a:lnL>
                    <a:lnR w="9525">
                      <a:solidFill>
                        <a:srgbClr val="C8CFDA"/>
                      </a:solidFill>
                    </a:lnR>
                    <a:lnT w="9525">
                      <a:solidFill>
                        <a:srgbClr val="C8CFDA"/>
                      </a:solidFill>
                    </a:lnT>
                    <a:lnB w="9525">
                      <a:solidFill>
                        <a:srgbClr val="C8CFDA"/>
                      </a:solidFill>
                    </a:lnB>
                    <a:solidFill>
                      <a:srgbClr val="FFFFFF"/>
                    </a:solidFill>
                  </a:tcPr>
                </a:tc>
              </a:tr>
            </a:tbl>
          </a:graphicData>
        </a:graphic>
      </p:graphicFrame>
      <p:sp>
        <p:nvSpPr>
          <p:cNvPr id="6" name="TextBox 5"/>
          <p:cNvSpPr txBox="1"/>
          <p:nvPr/>
        </p:nvSpPr>
        <p:spPr>
          <a:xfrm>
            <a:off x="640080" y="3931920"/>
            <a:ext cx="6766560" cy="508000"/>
          </a:xfrm>
          <a:prstGeom prst="rect">
            <a:avLst/>
          </a:prstGeom>
          <a:noFill/>
        </p:spPr>
        <p:txBody>
          <a:bodyPr wrap="square" anchor="t" lIns="0" rIns="0" tIns="0" bIns="0">
            <a:spAutoFit/>
          </a:bodyPr>
          <a:lstStyle/>
          <a:p>
            <a:pPr algn="l" marL="256032" indent="-256032">
              <a:spcAft>
                <a:spcPts val="0"/>
              </a:spcAft>
              <a:buFont typeface="Arial"/>
              <a:buChar char="•"/>
            </a:pPr>
            <a:r>
              <a:rPr sz="1600" b="1" i="0">
                <a:solidFill>
                  <a:srgbClr val="262626"/>
                </a:solidFill>
                <a:latin typeface="Calibri"/>
              </a:rPr>
              <a:t>Στατιστικός έλεγχος: </a:t>
            </a:r>
            <a:r>
              <a:rPr sz="1600" b="0" i="0">
                <a:solidFill>
                  <a:srgbClr val="262626"/>
                </a:solidFill>
                <a:latin typeface="Calibri"/>
              </a:rPr>
              <a:t>Wilcoxon και Nadeau‑Bengio, p = 1,000 μετά από διόρθωση Holm‑Bonferroni</a:t>
            </a:r>
          </a:p>
        </p:txBody>
      </p:sp>
      <p:sp>
        <p:nvSpPr>
          <p:cNvPr id="7" name="TextBox 6"/>
          <p:cNvSpPr txBox="1"/>
          <p:nvPr/>
        </p:nvSpPr>
        <p:spPr>
          <a:xfrm>
            <a:off x="640080" y="4577080"/>
            <a:ext cx="6766560" cy="254000"/>
          </a:xfrm>
          <a:prstGeom prst="rect">
            <a:avLst/>
          </a:prstGeom>
          <a:noFill/>
        </p:spPr>
        <p:txBody>
          <a:bodyPr wrap="square" anchor="t" lIns="0" rIns="0" tIns="0" bIns="0">
            <a:spAutoFit/>
          </a:bodyPr>
          <a:lstStyle/>
          <a:p>
            <a:pPr algn="l" marL="256032" indent="-256032">
              <a:spcAft>
                <a:spcPts val="0"/>
              </a:spcAft>
              <a:buFont typeface="Arial"/>
              <a:buChar char="•"/>
            </a:pPr>
            <a:r>
              <a:rPr sz="1600" b="1" i="0">
                <a:solidFill>
                  <a:srgbClr val="262626"/>
                </a:solidFill>
                <a:latin typeface="Calibri"/>
              </a:rPr>
              <a:t>Recall, Precision, F1: </a:t>
            </a:r>
            <a:r>
              <a:rPr sz="1600" b="0" i="0">
                <a:solidFill>
                  <a:srgbClr val="262626"/>
                </a:solidFill>
                <a:latin typeface="Calibri"/>
              </a:rPr>
              <a:t>μηδενική διαφορά σε όλα τα μοντέλα</a:t>
            </a:r>
          </a:p>
        </p:txBody>
      </p:sp>
      <p:sp>
        <p:nvSpPr>
          <p:cNvPr id="8" name="TextBox 7"/>
          <p:cNvSpPr txBox="1"/>
          <p:nvPr/>
        </p:nvSpPr>
        <p:spPr>
          <a:xfrm>
            <a:off x="640080" y="4968240"/>
            <a:ext cx="6766560" cy="508000"/>
          </a:xfrm>
          <a:prstGeom prst="rect">
            <a:avLst/>
          </a:prstGeom>
          <a:noFill/>
        </p:spPr>
        <p:txBody>
          <a:bodyPr wrap="square" anchor="t" lIns="0" rIns="0" tIns="0" bIns="0">
            <a:spAutoFit/>
          </a:bodyPr>
          <a:lstStyle/>
          <a:p>
            <a:pPr algn="l" marL="256032" indent="-256032">
              <a:spcAft>
                <a:spcPts val="0"/>
              </a:spcAft>
              <a:buFont typeface="Arial"/>
              <a:buChar char="•"/>
            </a:pPr>
            <a:r>
              <a:rPr sz="1600" b="1" i="0">
                <a:solidFill>
                  <a:srgbClr val="262626"/>
                </a:solidFill>
                <a:latin typeface="Calibri"/>
              </a:rPr>
              <a:t>Χαμηλή Precision στο test: </a:t>
            </a:r>
            <a:r>
              <a:rPr sz="1600" b="0" i="0">
                <a:solidFill>
                  <a:srgbClr val="262626"/>
                </a:solidFill>
                <a:latin typeface="Calibri"/>
              </a:rPr>
              <a:t>απάτη 9,09% στο δείγμα έναντι 1,34% στο test, με threshold 0,50</a:t>
            </a:r>
          </a:p>
        </p:txBody>
      </p:sp>
      <p:sp>
        <p:nvSpPr>
          <p:cNvPr id="9" name="Rectangle 8"/>
          <p:cNvSpPr/>
          <p:nvPr/>
        </p:nvSpPr>
        <p:spPr>
          <a:xfrm>
            <a:off x="7726679" y="3931920"/>
            <a:ext cx="3840480" cy="201168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buNone/>
            </a:pPr>
            <a:r>
              <a:rPr sz="1500" b="0" i="0">
                <a:solidFill>
                  <a:srgbClr val="262626"/>
                </a:solidFill>
                <a:latin typeface="Calibri"/>
              </a:rPr>
              <a:t>Διαφορά PR-AUC</a:t>
            </a:r>
          </a:p>
          <a:p>
            <a:pPr algn="ctr">
              <a:spcAft>
                <a:spcPts val="200"/>
              </a:spcAft>
              <a:buNone/>
            </a:pPr>
            <a:r>
              <a:rPr sz="4400" b="1" i="0">
                <a:solidFill>
                  <a:srgbClr val="1F3864"/>
                </a:solidFill>
                <a:latin typeface="Cambria"/>
              </a:rPr>
              <a:t>0,0000</a:t>
            </a:r>
          </a:p>
          <a:p>
            <a:pPr algn="ctr">
              <a:spcAft>
                <a:spcPts val="0"/>
              </a:spcAft>
              <a:buNone/>
            </a:pPr>
            <a:r>
              <a:rPr sz="1400" b="0" i="0">
                <a:solidFill>
                  <a:srgbClr val="6B6B6B"/>
                </a:solidFill>
                <a:latin typeface="Calibri"/>
              </a:rPr>
              <a:t>σε όλα τα μοντέλα, σε CV και test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4" presetID="10"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3" dur="500"/>
                                        <p:tgtEl>
                                          <p:spTgt spid="5"/>
                                        </p:tgtEl>
                                      </p:cBhvr>
                                    </p:animEffect>
                                  </p:childTnLst>
                                </p:cTn>
                              </p:par>
                            </p:childTnLst>
                          </p:cTn>
                        </p:par>
                      </p:childTnLst>
                    </p:cTn>
                  </p:par>
                  <p:par>
                    <p:cTn id="13" fill="hold">
                      <p:stCondLst>
                        <p:cond delay="indefinite"/>
                      </p:stCondLst>
                      <p:childTnLst>
                        <p:par>
                          <p:cTn id="12"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anim calcmode="lin" valueType="num">
                                      <p:cBhvr>
                                        <p:cTn id="9" dur="500" fill="hold"/>
                                        <p:tgtEl>
                                          <p:spTgt spid="9"/>
                                        </p:tgtEl>
                                        <p:attrNameLst>
                                          <p:attrName>ppt_y</p:attrName>
                                        </p:attrNameLst>
                                      </p:cBhvr>
                                      <p:tavLst>
                                        <p:tav tm="0">
                                          <p:val>
                                            <p:strVal val="#ppt_y+0.05"/>
                                          </p:val>
                                        </p:tav>
                                        <p:tav tm="100000">
                                          <p:val>
                                            <p:strVal val="#ppt_y"/>
                                          </p:val>
                                        </p:tav>
                                      </p:tavLst>
                                    </p:anim>
                                  </p:childTnLst>
                                </p:cTn>
                              </p:par>
                            </p:childTnLst>
                          </p:cTn>
                        </p:par>
                      </p:childTnLst>
                    </p:cTn>
                  </p:par>
                  <p:par>
                    <p:cTn id="24" fill="hold">
                      <p:stCondLst>
                        <p:cond delay="indefinite"/>
                      </p:stCondLst>
                      <p:childTnLst>
                        <p:par>
                          <p:cTn id="23"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8" presetID="10" presetClass="entr" presetSubtype="0" fill="hold" nodeType="withEffect">
                                  <p:stCondLst>
                                    <p:cond delay="300"/>
                                  </p:stCondLst>
                                  <p:childTnLst>
                                    <p:set>
                                      <p:cBhvr>
                                        <p:cTn id="19"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21" presetID="10" presetClass="entr" presetSubtype="0" fill="hold" nodeType="withEffect">
                                  <p:stCondLst>
                                    <p:cond delay="600"/>
                                  </p:stCondLst>
                                  <p:childTnLst>
                                    <p:set>
                                      <p:cBhvr>
                                        <p:cTn id="22"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731520"/>
          </a:xfrm>
          <a:prstGeom prst="rect">
            <a:avLst/>
          </a:prstGeom>
          <a:noFill/>
        </p:spPr>
        <p:txBody>
          <a:bodyPr wrap="square" anchor="ctr" lIns="0" rIns="0" tIns="0" bIns="0">
            <a:spAutoFit/>
          </a:bodyPr>
          <a:lstStyle/>
          <a:p>
            <a:pPr algn="l">
              <a:spcAft>
                <a:spcPts val="600"/>
              </a:spcAft>
              <a:buNone/>
            </a:pPr>
            <a:r>
              <a:rPr sz="3200" b="1" i="0">
                <a:solidFill>
                  <a:srgbClr val="1F3864"/>
                </a:solidFill>
                <a:latin typeface="Cambria"/>
              </a:rPr>
              <a:t>Ερμηνεία αποτελεσμάτων και κόστος</a:t>
            </a:r>
          </a:p>
        </p:txBody>
      </p:sp>
      <p:sp>
        <p:nvSpPr>
          <p:cNvPr id="3" name="TextBox 2"/>
          <p:cNvSpPr txBox="1"/>
          <p:nvPr/>
        </p:nvSpPr>
        <p:spPr>
          <a:xfrm>
            <a:off x="640080" y="6355080"/>
            <a:ext cx="9601200" cy="274320"/>
          </a:xfrm>
          <a:prstGeom prst="rect">
            <a:avLst/>
          </a:prstGeom>
          <a:noFill/>
        </p:spPr>
        <p:txBody>
          <a:bodyPr wrap="square" anchor="t" lIns="0" rIns="0" tIns="0" bIns="0">
            <a:spAutoFit/>
          </a:bodyPr>
          <a:lstStyle/>
          <a:p>
            <a:pPr algn="l">
              <a:spcAft>
                <a:spcPts val="600"/>
              </a:spcAft>
              <a:buNone/>
            </a:pPr>
            <a:r>
              <a:rPr sz="1000" b="0" i="0">
                <a:solidFill>
                  <a:srgbClr val="6B6B6B"/>
                </a:solidFill>
                <a:latin typeface="Calibri"/>
              </a:rPr>
              <a:t>Γαληρόπουλος Θεοδόσιος  ·  Agentic AI για αυτοματοποιημένη διαχείριση ποιότητας δεδομένων</a:t>
            </a:r>
          </a:p>
        </p:txBody>
      </p:sp>
      <p:sp>
        <p:nvSpPr>
          <p:cNvPr id="4" name="TextBox 3"/>
          <p:cNvSpPr txBox="1"/>
          <p:nvPr/>
        </p:nvSpPr>
        <p:spPr>
          <a:xfrm>
            <a:off x="10607040" y="6355080"/>
            <a:ext cx="914400" cy="274320"/>
          </a:xfrm>
          <a:prstGeom prst="rect">
            <a:avLst/>
          </a:prstGeom>
          <a:noFill/>
        </p:spPr>
        <p:txBody>
          <a:bodyPr wrap="square" anchor="t" lIns="0" rIns="0" tIns="0" bIns="0">
            <a:spAutoFit/>
          </a:bodyPr>
          <a:lstStyle/>
          <a:p>
            <a:pPr algn="r">
              <a:spcAft>
                <a:spcPts val="600"/>
              </a:spcAft>
              <a:buNone/>
            </a:pPr>
            <a:r>
              <a:rPr sz="1000" b="0" i="0">
                <a:solidFill>
                  <a:srgbClr val="6B6B6B"/>
                </a:solidFill>
                <a:latin typeface="Calibri"/>
              </a:rPr>
              <a:t>9 / 10</a:t>
            </a:r>
          </a:p>
        </p:txBody>
      </p:sp>
      <p:sp>
        <p:nvSpPr>
          <p:cNvPr id="5" name="TextBox 4"/>
          <p:cNvSpPr txBox="1"/>
          <p:nvPr/>
        </p:nvSpPr>
        <p:spPr>
          <a:xfrm>
            <a:off x="640080" y="1417320"/>
            <a:ext cx="5532120" cy="457200"/>
          </a:xfrm>
          <a:prstGeom prst="rect">
            <a:avLst/>
          </a:prstGeom>
          <a:noFill/>
        </p:spPr>
        <p:txBody>
          <a:bodyPr wrap="square" anchor="t" lIns="0" rIns="0" tIns="0" bIns="0">
            <a:spAutoFit/>
          </a:bodyPr>
          <a:lstStyle/>
          <a:p>
            <a:pPr algn="l">
              <a:spcAft>
                <a:spcPts val="600"/>
              </a:spcAft>
              <a:buNone/>
            </a:pPr>
            <a:r>
              <a:rPr sz="2200" b="1" i="0">
                <a:solidFill>
                  <a:srgbClr val="1F3864"/>
                </a:solidFill>
                <a:latin typeface="Cambria"/>
              </a:rPr>
              <a:t>Γιατί τα αποτελέσματα ταυτίζονται</a:t>
            </a:r>
          </a:p>
        </p:txBody>
      </p:sp>
      <p:sp>
        <p:nvSpPr>
          <p:cNvPr id="6" name="Rectangle 5"/>
          <p:cNvSpPr/>
          <p:nvPr/>
        </p:nvSpPr>
        <p:spPr>
          <a:xfrm>
            <a:off x="640080" y="2011680"/>
            <a:ext cx="2514600" cy="12344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buNone/>
            </a:pPr>
            <a:r>
              <a:rPr sz="1500" b="1" i="0">
                <a:solidFill>
                  <a:srgbClr val="1F3864"/>
                </a:solidFill>
                <a:latin typeface="Calibri"/>
              </a:rPr>
              <a:t>Συμβατικό pipeline</a:t>
            </a:r>
          </a:p>
          <a:p>
            <a:pPr algn="ctr">
              <a:spcAft>
                <a:spcPts val="0"/>
              </a:spcAft>
              <a:buNone/>
            </a:pPr>
            <a:r>
              <a:rPr sz="1400" b="0" i="0">
                <a:solidFill>
                  <a:srgbClr val="262626"/>
                </a:solidFill>
                <a:latin typeface="Calibri"/>
              </a:rPr>
              <a:t>κενή type → δική της στήλη στο one-hot</a:t>
            </a:r>
          </a:p>
        </p:txBody>
      </p:sp>
      <p:sp>
        <p:nvSpPr>
          <p:cNvPr id="7" name="TextBox 6"/>
          <p:cNvSpPr txBox="1"/>
          <p:nvPr/>
        </p:nvSpPr>
        <p:spPr>
          <a:xfrm>
            <a:off x="3154680" y="2011680"/>
            <a:ext cx="502920" cy="1234440"/>
          </a:xfrm>
          <a:prstGeom prst="rect">
            <a:avLst/>
          </a:prstGeom>
          <a:noFill/>
        </p:spPr>
        <p:txBody>
          <a:bodyPr wrap="square" anchor="ctr" lIns="0" rIns="0" tIns="0" bIns="0">
            <a:spAutoFit/>
          </a:bodyPr>
          <a:lstStyle/>
          <a:p>
            <a:pPr algn="ctr">
              <a:spcAft>
                <a:spcPts val="600"/>
              </a:spcAft>
              <a:buNone/>
            </a:pPr>
            <a:r>
              <a:rPr sz="3600" b="1" i="0">
                <a:solidFill>
                  <a:srgbClr val="1F3864"/>
                </a:solidFill>
                <a:latin typeface="Calibri"/>
              </a:rPr>
              <a:t>=</a:t>
            </a:r>
          </a:p>
        </p:txBody>
      </p:sp>
      <p:sp>
        <p:nvSpPr>
          <p:cNvPr id="8" name="Rectangle 7"/>
          <p:cNvSpPr/>
          <p:nvPr/>
        </p:nvSpPr>
        <p:spPr>
          <a:xfrm>
            <a:off x="3657600" y="2011680"/>
            <a:ext cx="2514600" cy="12344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buNone/>
            </a:pPr>
            <a:r>
              <a:rPr sz="1500" b="1" i="0">
                <a:solidFill>
                  <a:srgbClr val="1F3864"/>
                </a:solidFill>
                <a:latin typeface="Calibri"/>
              </a:rPr>
              <a:t>Plan 3 του Agent</a:t>
            </a:r>
          </a:p>
          <a:p>
            <a:pPr algn="ctr">
              <a:spcAft>
                <a:spcPts val="0"/>
              </a:spcAft>
              <a:buNone/>
            </a:pPr>
            <a:r>
              <a:rPr sz="1400" b="0" i="0">
                <a:solidFill>
                  <a:srgbClr val="262626"/>
                </a:solidFill>
                <a:latin typeface="Calibri"/>
              </a:rPr>
              <a:t>κενή type → «missing» → δική της στήλη</a:t>
            </a:r>
          </a:p>
        </p:txBody>
      </p:sp>
      <p:sp>
        <p:nvSpPr>
          <p:cNvPr id="9" name="Rectangle 8"/>
          <p:cNvSpPr/>
          <p:nvPr/>
        </p:nvSpPr>
        <p:spPr>
          <a:xfrm>
            <a:off x="640080" y="3474720"/>
            <a:ext cx="5532120" cy="6400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600"/>
              </a:spcAft>
              <a:buNone/>
            </a:pPr>
            <a:r>
              <a:rPr sz="1600" b="1" i="0">
                <a:solidFill>
                  <a:srgbClr val="FFFFFF"/>
                </a:solidFill>
                <a:latin typeface="Calibri"/>
              </a:rPr>
              <a:t>Ίδιος πίνακας χαρακτηριστικών → ίδιες προβλέψεις</a:t>
            </a:r>
          </a:p>
        </p:txBody>
      </p:sp>
      <p:sp>
        <p:nvSpPr>
          <p:cNvPr id="10" name="TextBox 9"/>
          <p:cNvSpPr txBox="1"/>
          <p:nvPr/>
        </p:nvSpPr>
        <p:spPr>
          <a:xfrm>
            <a:off x="640080" y="4389120"/>
            <a:ext cx="5532120" cy="254000"/>
          </a:xfrm>
          <a:prstGeom prst="rect">
            <a:avLst/>
          </a:prstGeom>
          <a:noFill/>
        </p:spPr>
        <p:txBody>
          <a:bodyPr wrap="square" anchor="t" lIns="0" rIns="0" tIns="0" bIns="0">
            <a:spAutoFit/>
          </a:bodyPr>
          <a:lstStyle/>
          <a:p>
            <a:pPr algn="l" marL="256032" indent="-256032">
              <a:spcAft>
                <a:spcPts val="0"/>
              </a:spcAft>
              <a:buFont typeface="Arial"/>
              <a:buChar char="•"/>
            </a:pPr>
            <a:r>
              <a:rPr sz="1600" b="1" i="0">
                <a:solidFill>
                  <a:srgbClr val="262626"/>
                </a:solidFill>
                <a:latin typeface="Calibri"/>
              </a:rPr>
              <a:t/>
            </a:r>
            <a:r>
              <a:rPr sz="1600" b="0" i="0">
                <a:solidFill>
                  <a:srgbClr val="262626"/>
                </a:solidFill>
                <a:latin typeface="Calibri"/>
              </a:rPr>
              <a:t>Η αλλοίωση μείωσε την PR-AUC μόνο κατά 0,002 έως 0,008</a:t>
            </a:r>
          </a:p>
        </p:txBody>
      </p:sp>
      <p:sp>
        <p:nvSpPr>
          <p:cNvPr id="11" name="TextBox 10"/>
          <p:cNvSpPr txBox="1"/>
          <p:nvPr/>
        </p:nvSpPr>
        <p:spPr>
          <a:xfrm>
            <a:off x="640080" y="4780280"/>
            <a:ext cx="5532120" cy="508000"/>
          </a:xfrm>
          <a:prstGeom prst="rect">
            <a:avLst/>
          </a:prstGeom>
          <a:noFill/>
        </p:spPr>
        <p:txBody>
          <a:bodyPr wrap="square" anchor="t" lIns="0" rIns="0" tIns="0" bIns="0">
            <a:spAutoFit/>
          </a:bodyPr>
          <a:lstStyle/>
          <a:p>
            <a:pPr algn="l" marL="256032" indent="-256032">
              <a:spcAft>
                <a:spcPts val="0"/>
              </a:spcAft>
              <a:buFont typeface="Arial"/>
              <a:buChar char="•"/>
            </a:pPr>
            <a:r>
              <a:rPr sz="1600" b="1" i="0">
                <a:solidFill>
                  <a:srgbClr val="262626"/>
                </a:solidFill>
                <a:latin typeface="Calibri"/>
              </a:rPr>
              <a:t/>
            </a:r>
            <a:r>
              <a:rPr sz="1600" b="0" i="0">
                <a:solidFill>
                  <a:srgbClr val="262626"/>
                </a:solidFill>
                <a:latin typeface="Calibri"/>
              </a:rPr>
              <a:t>Η τιμή της type που αφαιρέθηκε δεν ανακτάται από κανέναν μετασχηματισμό</a:t>
            </a:r>
          </a:p>
        </p:txBody>
      </p:sp>
      <p:sp>
        <p:nvSpPr>
          <p:cNvPr id="12" name="TextBox 11"/>
          <p:cNvSpPr txBox="1"/>
          <p:nvPr/>
        </p:nvSpPr>
        <p:spPr>
          <a:xfrm>
            <a:off x="6629400" y="1417320"/>
            <a:ext cx="4937760" cy="457200"/>
          </a:xfrm>
          <a:prstGeom prst="rect">
            <a:avLst/>
          </a:prstGeom>
          <a:noFill/>
        </p:spPr>
        <p:txBody>
          <a:bodyPr wrap="square" anchor="t" lIns="0" rIns="0" tIns="0" bIns="0">
            <a:spAutoFit/>
          </a:bodyPr>
          <a:lstStyle/>
          <a:p>
            <a:pPr algn="l">
              <a:spcAft>
                <a:spcPts val="600"/>
              </a:spcAft>
              <a:buNone/>
            </a:pPr>
            <a:r>
              <a:rPr sz="2200" b="1" i="0">
                <a:solidFill>
                  <a:srgbClr val="1F3864"/>
                </a:solidFill>
                <a:latin typeface="Cambria"/>
              </a:rPr>
              <a:t>Υπολογιστικό κόστος (ΕΕ2)</a:t>
            </a:r>
          </a:p>
        </p:txBody>
      </p:sp>
      <p:sp>
        <p:nvSpPr>
          <p:cNvPr id="13" name="Rectangle 12"/>
          <p:cNvSpPr/>
          <p:nvPr/>
        </p:nvSpPr>
        <p:spPr>
          <a:xfrm>
            <a:off x="6629400" y="2011680"/>
            <a:ext cx="2286000" cy="16916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600"/>
              </a:spcAft>
              <a:buNone/>
            </a:pPr>
            <a:r>
              <a:rPr sz="2800" b="1" i="0">
                <a:solidFill>
                  <a:srgbClr val="1F3864"/>
                </a:solidFill>
                <a:latin typeface="Cambria"/>
              </a:rPr>
              <a:t>1,005</a:t>
            </a:r>
          </a:p>
          <a:p>
            <a:pPr algn="ctr">
              <a:spcAft>
                <a:spcPts val="0"/>
              </a:spcAft>
              <a:buNone/>
            </a:pPr>
            <a:r>
              <a:rPr sz="1400" b="0" i="0">
                <a:solidFill>
                  <a:srgbClr val="262626"/>
                </a:solidFill>
                <a:latin typeface="Calibri"/>
              </a:rPr>
              <a:t>runtime multiplier</a:t>
            </a:r>
          </a:p>
        </p:txBody>
      </p:sp>
      <p:sp>
        <p:nvSpPr>
          <p:cNvPr id="14" name="Rectangle 13"/>
          <p:cNvSpPr/>
          <p:nvPr/>
        </p:nvSpPr>
        <p:spPr>
          <a:xfrm>
            <a:off x="9144000" y="2011680"/>
            <a:ext cx="2286000" cy="16916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600"/>
              </a:spcAft>
              <a:buNone/>
            </a:pPr>
            <a:r>
              <a:rPr sz="2800" b="1" i="0">
                <a:solidFill>
                  <a:srgbClr val="1F3864"/>
                </a:solidFill>
                <a:latin typeface="Cambria"/>
              </a:rPr>
              <a:t>9.204</a:t>
            </a:r>
          </a:p>
          <a:p>
            <a:pPr algn="ctr">
              <a:spcAft>
                <a:spcPts val="0"/>
              </a:spcAft>
              <a:buNone/>
            </a:pPr>
            <a:r>
              <a:rPr sz="1400" b="0" i="0">
                <a:solidFill>
                  <a:srgbClr val="262626"/>
                </a:solidFill>
                <a:latin typeface="Calibri"/>
              </a:rPr>
              <a:t>LLM tokens σε 3 κλήσεις</a:t>
            </a:r>
          </a:p>
        </p:txBody>
      </p:sp>
      <p:sp>
        <p:nvSpPr>
          <p:cNvPr id="15" name="Rectangle 14"/>
          <p:cNvSpPr/>
          <p:nvPr/>
        </p:nvSpPr>
        <p:spPr>
          <a:xfrm>
            <a:off x="6629400" y="3931920"/>
            <a:ext cx="2286000" cy="16916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600"/>
              </a:spcAft>
              <a:buNone/>
            </a:pPr>
            <a:r>
              <a:rPr sz="2800" b="1" i="0">
                <a:solidFill>
                  <a:srgbClr val="1F3864"/>
                </a:solidFill>
                <a:latin typeface="Cambria"/>
              </a:rPr>
              <a:t>~497 s</a:t>
            </a:r>
          </a:p>
          <a:p>
            <a:pPr algn="ctr">
              <a:spcAft>
                <a:spcPts val="0"/>
              </a:spcAft>
              <a:buNone/>
            </a:pPr>
            <a:r>
              <a:rPr sz="1400" b="0" i="0">
                <a:solidFill>
                  <a:srgbClr val="262626"/>
                </a:solidFill>
                <a:latin typeface="Calibri"/>
              </a:rPr>
              <a:t>συνολικός χρόνος Agent</a:t>
            </a:r>
          </a:p>
        </p:txBody>
      </p:sp>
      <p:sp>
        <p:nvSpPr>
          <p:cNvPr id="16" name="Rectangle 15"/>
          <p:cNvSpPr/>
          <p:nvPr/>
        </p:nvSpPr>
        <p:spPr>
          <a:xfrm>
            <a:off x="9144000" y="3931920"/>
            <a:ext cx="2286000" cy="16916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600"/>
              </a:spcAft>
              <a:buNone/>
            </a:pPr>
            <a:r>
              <a:rPr sz="2800" b="1" i="0">
                <a:solidFill>
                  <a:srgbClr val="1F3864"/>
                </a:solidFill>
                <a:latin typeface="Cambria"/>
              </a:rPr>
              <a:t>77,0 MiB</a:t>
            </a:r>
          </a:p>
          <a:p>
            <a:pPr algn="ctr">
              <a:spcAft>
                <a:spcPts val="0"/>
              </a:spcAft>
              <a:buNone/>
            </a:pPr>
            <a:r>
              <a:rPr sz="1400" b="0" i="0">
                <a:solidFill>
                  <a:srgbClr val="262626"/>
                </a:solidFill>
                <a:latin typeface="Calibri"/>
              </a:rPr>
              <a:t>αύξηση μνήμης (έναντι 48,6)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indefinite"/>
                      </p:stCondLst>
                      <p:childTnLst>
                        <p:par>
                          <p:cTn id="9" fill="hold">
                            <p:stCondLst>
                              <p:cond delay="0"/>
                            </p:stCondLst>
                            <p:childTnLst>
                              <p:par>
                                <p:cTn id="4" presetID="10"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3" dur="500"/>
                                        <p:tgtEl>
                                          <p:spTgt spid="5"/>
                                        </p:tgtEl>
                                      </p:cBhvr>
                                    </p:animEffect>
                                  </p:childTnLst>
                                </p:cTn>
                              </p:par>
                              <p:par>
                                <p:cTn id="7" presetID="10" presetClass="entr" presetSubtype="0" fill="hold" nodeType="withEffect">
                                  <p:stCondLst>
                                    <p:cond delay="200"/>
                                  </p:stCondLst>
                                  <p:childTnLst>
                                    <p:set>
                                      <p:cBhvr>
                                        <p:cTn id="8"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childTnLst>
                          </p:cTn>
                        </p:par>
                      </p:childTnLst>
                    </p:cTn>
                  </p:par>
                  <p:par>
                    <p:cTn id="18" fill="hold">
                      <p:stCondLst>
                        <p:cond delay="indefinite"/>
                      </p:stCondLst>
                      <p:childTnLst>
                        <p:par>
                          <p:cTn id="17"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5" presetID="10" presetClass="entr" presetSubtype="0" fill="hold" nodeType="withEffect">
                                  <p:stCondLst>
                                    <p:cond delay="250"/>
                                  </p:stCondLst>
                                  <p:childTnLst>
                                    <p:set>
                                      <p:cBhvr>
                                        <p:cTn id="16"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24"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anim calcmode="lin" valueType="num">
                                      <p:cBhvr>
                                        <p:cTn id="20" dur="500" fill="hold"/>
                                        <p:tgtEl>
                                          <p:spTgt spid="9"/>
                                        </p:tgtEl>
                                        <p:attrNameLst>
                                          <p:attrName>ppt_y</p:attrName>
                                        </p:attrNameLst>
                                      </p:cBhvr>
                                      <p:tavLst>
                                        <p:tav tm="0">
                                          <p:val>
                                            <p:strVal val="#ppt_y+0.05"/>
                                          </p:val>
                                        </p:tav>
                                        <p:tav tm="100000">
                                          <p:val>
                                            <p:strVal val="#ppt_y"/>
                                          </p:val>
                                        </p:tav>
                                      </p:tavLst>
                                    </p:anim>
                                  </p:childTnLst>
                                </p:cTn>
                              </p:par>
                            </p:childTnLst>
                          </p:cTn>
                        </p:par>
                      </p:childTnLst>
                    </p:cTn>
                  </p:par>
                  <p:par>
                    <p:cTn id="32" fill="hold">
                      <p:stCondLst>
                        <p:cond delay="indefinite"/>
                      </p:stCondLst>
                      <p:childTnLst>
                        <p:par>
                          <p:cTn id="31"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9" presetID="10" presetClass="entr" presetSubtype="0" fill="hold" nodeType="withEffect">
                                  <p:stCondLst>
                                    <p:cond delay="300"/>
                                  </p:stCondLst>
                                  <p:childTnLst>
                                    <p:set>
                                      <p:cBhvr>
                                        <p:cTn id="30"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54" fill="hold">
                      <p:stCondLst>
                        <p:cond delay="indefinite"/>
                      </p:stCondLst>
                      <p:childTnLst>
                        <p:par>
                          <p:cTn id="53"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anim calcmode="lin" valueType="num">
                                      <p:cBhvr>
                                        <p:cTn id="34" dur="500" fill="hold"/>
                                        <p:tgtEl>
                                          <p:spTgt spid="12"/>
                                        </p:tgtEl>
                                        <p:attrNameLst>
                                          <p:attrName>ppt_y</p:attrName>
                                        </p:attrNameLst>
                                      </p:cBhvr>
                                      <p:tavLst>
                                        <p:tav tm="0">
                                          <p:val>
                                            <p:strVal val="#ppt_y+0.05"/>
                                          </p:val>
                                        </p:tav>
                                        <p:tav tm="100000">
                                          <p:val>
                                            <p:strVal val="#ppt_y"/>
                                          </p:val>
                                        </p:tav>
                                      </p:tavLst>
                                    </p:anim>
                                  </p:childTnLst>
                                </p:cTn>
                              </p:par>
                              <p:par>
                                <p:cTn id="39" presetID="42" presetClass="entr" presetSubtype="0" fill="hold" nodeType="withEffect">
                                  <p:stCondLst>
                                    <p:cond delay="250"/>
                                  </p:stCondLst>
                                  <p:childTnLst>
                                    <p:set>
                                      <p:cBhvr>
                                        <p:cTn id="40"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anim calcmode="lin" valueType="num">
                                      <p:cBhvr>
                                        <p:cTn id="38" dur="500" fill="hold"/>
                                        <p:tgtEl>
                                          <p:spTgt spid="13"/>
                                        </p:tgtEl>
                                        <p:attrNameLst>
                                          <p:attrName>ppt_y</p:attrName>
                                        </p:attrNameLst>
                                      </p:cBhvr>
                                      <p:tavLst>
                                        <p:tav tm="0">
                                          <p:val>
                                            <p:strVal val="#ppt_y+0.05"/>
                                          </p:val>
                                        </p:tav>
                                        <p:tav tm="100000">
                                          <p:val>
                                            <p:strVal val="#ppt_y"/>
                                          </p:val>
                                        </p:tav>
                                      </p:tavLst>
                                    </p:anim>
                                  </p:childTnLst>
                                </p:cTn>
                              </p:par>
                              <p:par>
                                <p:cTn id="43" presetID="42" presetClass="entr" presetSubtype="0" fill="hold" nodeType="withEffect">
                                  <p:stCondLst>
                                    <p:cond delay="500"/>
                                  </p:stCondLst>
                                  <p:childTnLst>
                                    <p:set>
                                      <p:cBhvr>
                                        <p:cTn id="44"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anim calcmode="lin" valueType="num">
                                      <p:cBhvr>
                                        <p:cTn id="42" dur="500" fill="hold"/>
                                        <p:tgtEl>
                                          <p:spTgt spid="14"/>
                                        </p:tgtEl>
                                        <p:attrNameLst>
                                          <p:attrName>ppt_y</p:attrName>
                                        </p:attrNameLst>
                                      </p:cBhvr>
                                      <p:tavLst>
                                        <p:tav tm="0">
                                          <p:val>
                                            <p:strVal val="#ppt_y+0.05"/>
                                          </p:val>
                                        </p:tav>
                                        <p:tav tm="100000">
                                          <p:val>
                                            <p:strVal val="#ppt_y"/>
                                          </p:val>
                                        </p:tav>
                                      </p:tavLst>
                                    </p:anim>
                                  </p:childTnLst>
                                </p:cTn>
                              </p:par>
                              <p:par>
                                <p:cTn id="47" presetID="42" presetClass="entr" presetSubtype="0" fill="hold" nodeType="withEffect">
                                  <p:stCondLst>
                                    <p:cond delay="750"/>
                                  </p:stCondLst>
                                  <p:childTnLst>
                                    <p:set>
                                      <p:cBhvr>
                                        <p:cTn id="48"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anim calcmode="lin" valueType="num">
                                      <p:cBhvr>
                                        <p:cTn id="46" dur="500" fill="hold"/>
                                        <p:tgtEl>
                                          <p:spTgt spid="15"/>
                                        </p:tgtEl>
                                        <p:attrNameLst>
                                          <p:attrName>ppt_y</p:attrName>
                                        </p:attrNameLst>
                                      </p:cBhvr>
                                      <p:tavLst>
                                        <p:tav tm="0">
                                          <p:val>
                                            <p:strVal val="#ppt_y+0.05"/>
                                          </p:val>
                                        </p:tav>
                                        <p:tav tm="100000">
                                          <p:val>
                                            <p:strVal val="#ppt_y"/>
                                          </p:val>
                                        </p:tav>
                                      </p:tavLst>
                                    </p:anim>
                                  </p:childTnLst>
                                </p:cTn>
                              </p:par>
                              <p:par>
                                <p:cTn id="51" presetID="42" presetClass="entr" presetSubtype="0" fill="hold" nodeType="withEffect">
                                  <p:stCondLst>
                                    <p:cond delay="1000"/>
                                  </p:stCondLst>
                                  <p:childTnLst>
                                    <p:set>
                                      <p:cBhvr>
                                        <p:cTn id="52"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anim calcmode="lin" valueType="num">
                                      <p:cBhvr>
                                        <p:cTn id="50" dur="500" fill="hold"/>
                                        <p:tgtEl>
                                          <p:spTgt spid="16"/>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731520"/>
          </a:xfrm>
          <a:prstGeom prst="rect">
            <a:avLst/>
          </a:prstGeom>
          <a:noFill/>
        </p:spPr>
        <p:txBody>
          <a:bodyPr wrap="square" anchor="ctr" lIns="0" rIns="0" tIns="0" bIns="0">
            <a:spAutoFit/>
          </a:bodyPr>
          <a:lstStyle/>
          <a:p>
            <a:pPr algn="l">
              <a:spcAft>
                <a:spcPts val="600"/>
              </a:spcAft>
              <a:buNone/>
            </a:pPr>
            <a:r>
              <a:rPr sz="3200" b="1" i="0">
                <a:solidFill>
                  <a:srgbClr val="1F3864"/>
                </a:solidFill>
                <a:latin typeface="Cambria"/>
              </a:rPr>
              <a:t>Συμπεράσματα</a:t>
            </a:r>
          </a:p>
        </p:txBody>
      </p:sp>
      <p:sp>
        <p:nvSpPr>
          <p:cNvPr id="3" name="TextBox 2"/>
          <p:cNvSpPr txBox="1"/>
          <p:nvPr/>
        </p:nvSpPr>
        <p:spPr>
          <a:xfrm>
            <a:off x="640080" y="6355080"/>
            <a:ext cx="9601200" cy="274320"/>
          </a:xfrm>
          <a:prstGeom prst="rect">
            <a:avLst/>
          </a:prstGeom>
          <a:noFill/>
        </p:spPr>
        <p:txBody>
          <a:bodyPr wrap="square" anchor="t" lIns="0" rIns="0" tIns="0" bIns="0">
            <a:spAutoFit/>
          </a:bodyPr>
          <a:lstStyle/>
          <a:p>
            <a:pPr algn="l">
              <a:spcAft>
                <a:spcPts val="600"/>
              </a:spcAft>
              <a:buNone/>
            </a:pPr>
            <a:r>
              <a:rPr sz="1000" b="0" i="0">
                <a:solidFill>
                  <a:srgbClr val="6B6B6B"/>
                </a:solidFill>
                <a:latin typeface="Calibri"/>
              </a:rPr>
              <a:t>Γαληρόπουλος Θεοδόσιος  ·  Agentic AI για αυτοματοποιημένη διαχείριση ποιότητας δεδομένων</a:t>
            </a:r>
          </a:p>
        </p:txBody>
      </p:sp>
      <p:sp>
        <p:nvSpPr>
          <p:cNvPr id="4" name="TextBox 3"/>
          <p:cNvSpPr txBox="1"/>
          <p:nvPr/>
        </p:nvSpPr>
        <p:spPr>
          <a:xfrm>
            <a:off x="10607040" y="6355080"/>
            <a:ext cx="914400" cy="274320"/>
          </a:xfrm>
          <a:prstGeom prst="rect">
            <a:avLst/>
          </a:prstGeom>
          <a:noFill/>
        </p:spPr>
        <p:txBody>
          <a:bodyPr wrap="square" anchor="t" lIns="0" rIns="0" tIns="0" bIns="0">
            <a:spAutoFit/>
          </a:bodyPr>
          <a:lstStyle/>
          <a:p>
            <a:pPr algn="r">
              <a:spcAft>
                <a:spcPts val="600"/>
              </a:spcAft>
              <a:buNone/>
            </a:pPr>
            <a:r>
              <a:rPr sz="1000" b="0" i="0">
                <a:solidFill>
                  <a:srgbClr val="6B6B6B"/>
                </a:solidFill>
                <a:latin typeface="Calibri"/>
              </a:rPr>
              <a:t>10 / 10</a:t>
            </a:r>
          </a:p>
        </p:txBody>
      </p:sp>
      <p:sp>
        <p:nvSpPr>
          <p:cNvPr id="5" name="TextBox 4"/>
          <p:cNvSpPr txBox="1"/>
          <p:nvPr/>
        </p:nvSpPr>
        <p:spPr>
          <a:xfrm>
            <a:off x="640080" y="1417320"/>
            <a:ext cx="3429000" cy="457200"/>
          </a:xfrm>
          <a:prstGeom prst="rect">
            <a:avLst/>
          </a:prstGeom>
          <a:noFill/>
        </p:spPr>
        <p:txBody>
          <a:bodyPr wrap="square" anchor="t" lIns="0" rIns="0" tIns="0" bIns="0">
            <a:spAutoFit/>
          </a:bodyPr>
          <a:lstStyle/>
          <a:p>
            <a:pPr algn="l">
              <a:spcAft>
                <a:spcPts val="600"/>
              </a:spcAft>
              <a:buNone/>
            </a:pPr>
            <a:r>
              <a:rPr sz="2200" b="1" i="0">
                <a:solidFill>
                  <a:srgbClr val="1F3864"/>
                </a:solidFill>
                <a:latin typeface="Cambria"/>
              </a:rPr>
              <a:t>Βασικά ευρήματα</a:t>
            </a:r>
          </a:p>
        </p:txBody>
      </p:sp>
      <p:sp>
        <p:nvSpPr>
          <p:cNvPr id="6" name="TextBox 5"/>
          <p:cNvSpPr txBox="1"/>
          <p:nvPr/>
        </p:nvSpPr>
        <p:spPr>
          <a:xfrm>
            <a:off x="640080" y="1965960"/>
            <a:ext cx="3429000" cy="3291840"/>
          </a:xfrm>
          <a:prstGeom prst="rect">
            <a:avLst/>
          </a:prstGeom>
          <a:noFill/>
        </p:spPr>
        <p:txBody>
          <a:bodyPr wrap="square" anchor="t" lIns="0" rIns="0" tIns="0" bIns="0">
            <a:spAutoFit/>
          </a:bodyPr>
          <a:lstStyle/>
          <a:p>
            <a:pPr algn="l" marL="256032" indent="-256032">
              <a:spcAft>
                <a:spcPts val="1000"/>
              </a:spcAft>
              <a:buFont typeface="Arial"/>
              <a:buChar char="•"/>
            </a:pPr>
            <a:r>
              <a:rPr sz="1600" b="0" i="0">
                <a:solidFill>
                  <a:srgbClr val="262626"/>
                </a:solidFill>
                <a:latin typeface="Calibri"/>
              </a:rPr>
              <a:t>Καμία προβλεπτική βελτίωση στα τρία μοντέλα (ΕΕ1)</a:t>
            </a:r>
          </a:p>
          <a:p>
            <a:pPr algn="l" marL="256032" indent="-256032">
              <a:spcAft>
                <a:spcPts val="1000"/>
              </a:spcAft>
              <a:buFont typeface="Arial"/>
              <a:buChar char="•"/>
            </a:pPr>
            <a:r>
              <a:rPr sz="1600" b="0" i="0">
                <a:solidFill>
                  <a:srgbClr val="262626"/>
                </a:solidFill>
                <a:latin typeface="Calibri"/>
              </a:rPr>
              <a:t>Το πρόσθετο κόστος δεν δικαιολογείται στο σενάριο (ΕΕ2)</a:t>
            </a:r>
          </a:p>
          <a:p>
            <a:pPr algn="l" marL="256032" indent="-256032">
              <a:spcAft>
                <a:spcPts val="1000"/>
              </a:spcAft>
              <a:buFont typeface="Arial"/>
              <a:buChar char="•"/>
            </a:pPr>
            <a:r>
              <a:rPr sz="1600" b="0" i="0">
                <a:solidFill>
                  <a:srgbClr val="262626"/>
                </a:solidFill>
                <a:latin typeface="Calibri"/>
              </a:rPr>
              <a:t>Ο Agent λειτούργησε με ασφάλεια και πλήρη καταγραφή</a:t>
            </a:r>
          </a:p>
          <a:p>
            <a:pPr algn="l" marL="256032" indent="-256032">
              <a:spcAft>
                <a:spcPts val="1000"/>
              </a:spcAft>
              <a:buFont typeface="Arial"/>
              <a:buChar char="•"/>
            </a:pPr>
            <a:r>
              <a:rPr sz="1600" b="0" i="0">
                <a:solidFill>
                  <a:srgbClr val="262626"/>
                </a:solidFill>
                <a:latin typeface="Calibri"/>
              </a:rPr>
              <a:t>Η αξία του εξαρτάται από την ισχύ του baseline</a:t>
            </a:r>
          </a:p>
        </p:txBody>
      </p:sp>
      <p:sp>
        <p:nvSpPr>
          <p:cNvPr id="7" name="TextBox 6"/>
          <p:cNvSpPr txBox="1"/>
          <p:nvPr/>
        </p:nvSpPr>
        <p:spPr>
          <a:xfrm>
            <a:off x="4389120" y="1417320"/>
            <a:ext cx="3429000" cy="457200"/>
          </a:xfrm>
          <a:prstGeom prst="rect">
            <a:avLst/>
          </a:prstGeom>
          <a:noFill/>
        </p:spPr>
        <p:txBody>
          <a:bodyPr wrap="square" anchor="t" lIns="0" rIns="0" tIns="0" bIns="0">
            <a:spAutoFit/>
          </a:bodyPr>
          <a:lstStyle/>
          <a:p>
            <a:pPr algn="l">
              <a:spcAft>
                <a:spcPts val="600"/>
              </a:spcAft>
              <a:buNone/>
            </a:pPr>
            <a:r>
              <a:rPr sz="2200" b="1" i="0">
                <a:solidFill>
                  <a:srgbClr val="1F3864"/>
                </a:solidFill>
                <a:latin typeface="Cambria"/>
              </a:rPr>
              <a:t>Περιορισμοί</a:t>
            </a:r>
          </a:p>
        </p:txBody>
      </p:sp>
      <p:sp>
        <p:nvSpPr>
          <p:cNvPr id="8" name="TextBox 7"/>
          <p:cNvSpPr txBox="1"/>
          <p:nvPr/>
        </p:nvSpPr>
        <p:spPr>
          <a:xfrm>
            <a:off x="4389120" y="1965960"/>
            <a:ext cx="3429000" cy="3291840"/>
          </a:xfrm>
          <a:prstGeom prst="rect">
            <a:avLst/>
          </a:prstGeom>
          <a:noFill/>
        </p:spPr>
        <p:txBody>
          <a:bodyPr wrap="square" anchor="t" lIns="0" rIns="0" tIns="0" bIns="0">
            <a:spAutoFit/>
          </a:bodyPr>
          <a:lstStyle/>
          <a:p>
            <a:pPr algn="l" marL="256032" indent="-256032">
              <a:spcAft>
                <a:spcPts val="1000"/>
              </a:spcAft>
              <a:buFont typeface="Arial"/>
              <a:buChar char="•"/>
            </a:pPr>
            <a:r>
              <a:rPr sz="1600" b="0" i="0">
                <a:solidFill>
                  <a:srgbClr val="262626"/>
                </a:solidFill>
                <a:latin typeface="Calibri"/>
              </a:rPr>
              <a:t>Συνθετικό dataset (PaySim)</a:t>
            </a:r>
          </a:p>
          <a:p>
            <a:pPr algn="l" marL="256032" indent="-256032">
              <a:spcAft>
                <a:spcPts val="1000"/>
              </a:spcAft>
              <a:buFont typeface="Arial"/>
              <a:buChar char="•"/>
            </a:pPr>
            <a:r>
              <a:rPr sz="1600" b="0" i="0">
                <a:solidFill>
                  <a:srgbClr val="262626"/>
                </a:solidFill>
                <a:latin typeface="Calibri"/>
              </a:rPr>
              <a:t>Ένα είδος αλλοίωσης: 5% MCAR στη type</a:t>
            </a:r>
          </a:p>
          <a:p>
            <a:pPr algn="l" marL="256032" indent="-256032">
              <a:spcAft>
                <a:spcPts val="1000"/>
              </a:spcAft>
              <a:buFont typeface="Arial"/>
              <a:buChar char="•"/>
            </a:pPr>
            <a:r>
              <a:rPr sz="1600" b="0" i="0">
                <a:solidFill>
                  <a:srgbClr val="262626"/>
                </a:solidFill>
                <a:latin typeface="Calibri"/>
              </a:rPr>
              <a:t>Μία εκτέλεση του Agent, ένα LLM</a:t>
            </a:r>
          </a:p>
          <a:p>
            <a:pPr algn="l" marL="256032" indent="-256032">
              <a:spcAft>
                <a:spcPts val="1000"/>
              </a:spcAft>
              <a:buFont typeface="Arial"/>
              <a:buChar char="•"/>
            </a:pPr>
            <a:r>
              <a:rPr sz="1600" b="0" i="0">
                <a:solidFill>
                  <a:srgbClr val="262626"/>
                </a:solidFill>
                <a:latin typeface="Calibri"/>
              </a:rPr>
              <a:t>Χωρίς rule-based baseline</a:t>
            </a:r>
          </a:p>
        </p:txBody>
      </p:sp>
      <p:sp>
        <p:nvSpPr>
          <p:cNvPr id="9" name="TextBox 8"/>
          <p:cNvSpPr txBox="1"/>
          <p:nvPr/>
        </p:nvSpPr>
        <p:spPr>
          <a:xfrm>
            <a:off x="8138159" y="1417320"/>
            <a:ext cx="3429000" cy="457200"/>
          </a:xfrm>
          <a:prstGeom prst="rect">
            <a:avLst/>
          </a:prstGeom>
          <a:noFill/>
        </p:spPr>
        <p:txBody>
          <a:bodyPr wrap="square" anchor="t" lIns="0" rIns="0" tIns="0" bIns="0">
            <a:spAutoFit/>
          </a:bodyPr>
          <a:lstStyle/>
          <a:p>
            <a:pPr algn="l">
              <a:spcAft>
                <a:spcPts val="600"/>
              </a:spcAft>
              <a:buNone/>
            </a:pPr>
            <a:r>
              <a:rPr sz="2200" b="1" i="0">
                <a:solidFill>
                  <a:srgbClr val="1F3864"/>
                </a:solidFill>
                <a:latin typeface="Cambria"/>
              </a:rPr>
              <a:t>Μελλοντική έρευνα</a:t>
            </a:r>
          </a:p>
        </p:txBody>
      </p:sp>
      <p:sp>
        <p:nvSpPr>
          <p:cNvPr id="10" name="TextBox 9"/>
          <p:cNvSpPr txBox="1"/>
          <p:nvPr/>
        </p:nvSpPr>
        <p:spPr>
          <a:xfrm>
            <a:off x="8138159" y="1965960"/>
            <a:ext cx="3429000" cy="3291840"/>
          </a:xfrm>
          <a:prstGeom prst="rect">
            <a:avLst/>
          </a:prstGeom>
          <a:noFill/>
        </p:spPr>
        <p:txBody>
          <a:bodyPr wrap="square" anchor="t" lIns="0" rIns="0" tIns="0" bIns="0">
            <a:spAutoFit/>
          </a:bodyPr>
          <a:lstStyle/>
          <a:p>
            <a:pPr algn="l" marL="256032" indent="-256032">
              <a:spcAft>
                <a:spcPts val="1000"/>
              </a:spcAft>
              <a:buFont typeface="Arial"/>
              <a:buChar char="•"/>
            </a:pPr>
            <a:r>
              <a:rPr sz="1600" b="0" i="0">
                <a:solidFill>
                  <a:srgbClr val="262626"/>
                </a:solidFill>
                <a:latin typeface="Calibri"/>
              </a:rPr>
              <a:t>Πραγματικά, ανωνυμοποιημένα δεδομένα</a:t>
            </a:r>
          </a:p>
          <a:p>
            <a:pPr algn="l" marL="256032" indent="-256032">
              <a:spcAft>
                <a:spcPts val="1000"/>
              </a:spcAft>
              <a:buFont typeface="Arial"/>
              <a:buChar char="•"/>
            </a:pPr>
            <a:r>
              <a:rPr sz="1600" b="0" i="0">
                <a:solidFill>
                  <a:srgbClr val="262626"/>
                </a:solidFill>
                <a:latin typeface="Calibri"/>
              </a:rPr>
              <a:t>Δυσκολότερες αλλοιώσεις (MAR, αριθμητικά)</a:t>
            </a:r>
          </a:p>
          <a:p>
            <a:pPr algn="l" marL="256032" indent="-256032">
              <a:spcAft>
                <a:spcPts val="1000"/>
              </a:spcAft>
              <a:buFont typeface="Arial"/>
              <a:buChar char="•"/>
            </a:pPr>
            <a:r>
              <a:rPr sz="1600" b="0" i="0">
                <a:solidFill>
                  <a:srgbClr val="262626"/>
                </a:solidFill>
                <a:latin typeface="Calibri"/>
              </a:rPr>
              <a:t>Σύγκριση LLMs και rule-based agent</a:t>
            </a:r>
          </a:p>
          <a:p>
            <a:pPr algn="l" marL="256032" indent="-256032">
              <a:spcAft>
                <a:spcPts val="1000"/>
              </a:spcAft>
              <a:buFont typeface="Arial"/>
              <a:buChar char="•"/>
            </a:pPr>
            <a:r>
              <a:rPr sz="1600" b="0" i="0">
                <a:solidFill>
                  <a:srgbClr val="262626"/>
                </a:solidFill>
                <a:latin typeface="Calibri"/>
              </a:rPr>
              <a:t>Επαναλαμβανόμενες εκτελέσεις του Agent</a:t>
            </a:r>
          </a:p>
        </p:txBody>
      </p:sp>
      <p:sp>
        <p:nvSpPr>
          <p:cNvPr id="11" name="TextBox 10"/>
          <p:cNvSpPr txBox="1"/>
          <p:nvPr/>
        </p:nvSpPr>
        <p:spPr>
          <a:xfrm>
            <a:off x="640080" y="5486400"/>
            <a:ext cx="10927080" cy="502920"/>
          </a:xfrm>
          <a:prstGeom prst="rect">
            <a:avLst/>
          </a:prstGeom>
          <a:noFill/>
        </p:spPr>
        <p:txBody>
          <a:bodyPr wrap="square" anchor="t" lIns="0" rIns="0" tIns="0" bIns="0">
            <a:spAutoFit/>
          </a:bodyPr>
          <a:lstStyle/>
          <a:p>
            <a:pPr algn="ctr">
              <a:spcAft>
                <a:spcPts val="600"/>
              </a:spcAft>
              <a:buNone/>
            </a:pPr>
            <a:r>
              <a:rPr sz="2200" b="0" i="1">
                <a:solidFill>
                  <a:srgbClr val="1F3864"/>
                </a:solidFill>
                <a:latin typeface="Cambria"/>
              </a:rPr>
              <a:t>Σας ευχαριστώ για την προσοχή σας</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1"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3" dur="500"/>
                                        <p:tgtEl>
                                          <p:spTgt spid="5"/>
                                        </p:tgtEl>
                                      </p:cBhvr>
                                    </p:animEffect>
                                    <p:anim calcmode="lin" valueType="num">
                                      <p:cBhvr>
                                        <p:cTn id="4" dur="500" fill="hold"/>
                                        <p:tgtEl>
                                          <p:spTgt spid="5"/>
                                        </p:tgtEl>
                                        <p:attrNameLst>
                                          <p:attrName>ppt_y</p:attrName>
                                        </p:attrNameLst>
                                      </p:cBhvr>
                                      <p:tavLst>
                                        <p:tav tm="0">
                                          <p:val>
                                            <p:strVal val="#ppt_y+0.05"/>
                                          </p:val>
                                        </p:tav>
                                        <p:tav tm="100000">
                                          <p:val>
                                            <p:strVal val="#ppt_y"/>
                                          </p:val>
                                        </p:tav>
                                      </p:tavLst>
                                    </p:anim>
                                  </p:childTnLst>
                                </p:cTn>
                              </p:par>
                              <p:par>
                                <p:cTn id="9" presetID="42" presetClass="entr" presetSubtype="0" fill="hold" nodeType="withEffect">
                                  <p:stCondLst>
                                    <p:cond delay="200"/>
                                  </p:stCondLst>
                                  <p:childTnLst>
                                    <p:set>
                                      <p:cBhvr>
                                        <p:cTn id="10"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ppt_y</p:attrName>
                                        </p:attrNameLst>
                                      </p:cBhvr>
                                      <p:tavLst>
                                        <p:tav tm="0">
                                          <p:val>
                                            <p:strVal val="#ppt_y+0.05"/>
                                          </p:val>
                                        </p:tav>
                                        <p:tav tm="100000">
                                          <p:val>
                                            <p:strVal val="#ppt_y"/>
                                          </p:val>
                                        </p:tav>
                                      </p:tavLst>
                                    </p:anim>
                                  </p:childTnLst>
                                </p:cTn>
                              </p:par>
                            </p:childTnLst>
                          </p:cTn>
                        </p:par>
                      </p:childTnLst>
                    </p:cTn>
                  </p:par>
                  <p:par>
                    <p:cTn id="22" fill="hold">
                      <p:stCondLst>
                        <p:cond delay="indefinite"/>
                      </p:stCondLst>
                      <p:childTnLst>
                        <p:par>
                          <p:cTn id="21"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anim calcmode="lin" valueType="num">
                                      <p:cBhvr>
                                        <p:cTn id="14" dur="500" fill="hold"/>
                                        <p:tgtEl>
                                          <p:spTgt spid="7"/>
                                        </p:tgtEl>
                                        <p:attrNameLst>
                                          <p:attrName>ppt_y</p:attrName>
                                        </p:attrNameLst>
                                      </p:cBhvr>
                                      <p:tavLst>
                                        <p:tav tm="0">
                                          <p:val>
                                            <p:strVal val="#ppt_y+0.05"/>
                                          </p:val>
                                        </p:tav>
                                        <p:tav tm="100000">
                                          <p:val>
                                            <p:strVal val="#ppt_y"/>
                                          </p:val>
                                        </p:tav>
                                      </p:tavLst>
                                    </p:anim>
                                  </p:childTnLst>
                                </p:cTn>
                              </p:par>
                              <p:par>
                                <p:cTn id="19" presetID="42" presetClass="entr" presetSubtype="0" fill="hold" nodeType="withEffect">
                                  <p:stCondLst>
                                    <p:cond delay="200"/>
                                  </p:stCondLst>
                                  <p:childTnLst>
                                    <p:set>
                                      <p:cBhvr>
                                        <p:cTn id="20"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anim calcmode="lin" valueType="num">
                                      <p:cBhvr>
                                        <p:cTn id="18" dur="500" fill="hold"/>
                                        <p:tgtEl>
                                          <p:spTgt spid="8"/>
                                        </p:tgtEl>
                                        <p:attrNameLst>
                                          <p:attrName>ppt_y</p:attrName>
                                        </p:attrNameLst>
                                      </p:cBhvr>
                                      <p:tavLst>
                                        <p:tav tm="0">
                                          <p:val>
                                            <p:strVal val="#ppt_y+0.05"/>
                                          </p:val>
                                        </p:tav>
                                        <p:tav tm="100000">
                                          <p:val>
                                            <p:strVal val="#ppt_y"/>
                                          </p:val>
                                        </p:tav>
                                      </p:tavLst>
                                    </p:anim>
                                  </p:childTnLst>
                                </p:cTn>
                              </p:par>
                            </p:childTnLst>
                          </p:cTn>
                        </p:par>
                      </p:childTnLst>
                    </p:cTn>
                  </p:par>
                  <p:par>
                    <p:cTn id="32" fill="hold">
                      <p:stCondLst>
                        <p:cond delay="indefinite"/>
                      </p:stCondLst>
                      <p:childTnLst>
                        <p:par>
                          <p:cTn id="31"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p:cTn id="24" dur="500" fill="hold"/>
                                        <p:tgtEl>
                                          <p:spTgt spid="9"/>
                                        </p:tgtEl>
                                        <p:attrNameLst>
                                          <p:attrName>ppt_y</p:attrName>
                                        </p:attrNameLst>
                                      </p:cBhvr>
                                      <p:tavLst>
                                        <p:tav tm="0">
                                          <p:val>
                                            <p:strVal val="#ppt_y+0.05"/>
                                          </p:val>
                                        </p:tav>
                                        <p:tav tm="100000">
                                          <p:val>
                                            <p:strVal val="#ppt_y"/>
                                          </p:val>
                                        </p:tav>
                                      </p:tavLst>
                                    </p:anim>
                                  </p:childTnLst>
                                </p:cTn>
                              </p:par>
                              <p:par>
                                <p:cTn id="29" presetID="42" presetClass="entr" presetSubtype="0" fill="hold" nodeType="withEffect">
                                  <p:stCondLst>
                                    <p:cond delay="200"/>
                                  </p:stCondLst>
                                  <p:childTnLst>
                                    <p:set>
                                      <p:cBhvr>
                                        <p:cTn id="30"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anim calcmode="lin" valueType="num">
                                      <p:cBhvr>
                                        <p:cTn id="28" dur="500" fill="hold"/>
                                        <p:tgtEl>
                                          <p:spTgt spid="10"/>
                                        </p:tgtEl>
                                        <p:attrNameLst>
                                          <p:attrName>ppt_y</p:attrName>
                                        </p:attrNameLst>
                                      </p:cBhvr>
                                      <p:tavLst>
                                        <p:tav tm="0">
                                          <p:val>
                                            <p:strVal val="#ppt_y+0.05"/>
                                          </p:val>
                                        </p:tav>
                                        <p:tav tm="100000">
                                          <p:val>
                                            <p:strVal val="#ppt_y"/>
                                          </p:val>
                                        </p:tav>
                                      </p:tavLst>
                                    </p:anim>
                                  </p:childTnLst>
                                </p:cTn>
                              </p:par>
                            </p:childTnLst>
                          </p:cTn>
                        </p:par>
                      </p:childTnLst>
                    </p:cTn>
                  </p:par>
                  <p:par>
                    <p:cTn id="37" fill="hold">
                      <p:stCondLst>
                        <p:cond delay="indefinite"/>
                      </p:stCondLst>
                      <p:childTnLst>
                        <p:par>
                          <p:cTn id="36"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για αυτοματοποιημένη διαχείριση ποιότητας δεδομένων</dc:title>
  <dc:subject/>
  <dc:creator>Γαληρόπουλος Θεοδόσιος</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